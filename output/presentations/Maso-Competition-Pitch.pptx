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69d487b0ce4c9c" /><Relationship Type="http://schemas.openxmlformats.org/officeDocument/2006/relationships/extended-properties" Target="/docProps/app.xml" Id="Rc040940025fd469a" /><Relationship Type="http://schemas.openxmlformats.org/officeDocument/2006/relationships/officeDocument" Target="/ppt/presentation.xml" Id="R7217cebca3a04fdd" /></Relationships>
</file>

<file path=ppt/presentation.xml><?xml version="1.0" encoding="utf-8"?>
<p:presentation xmlns:p="http://schemas.openxmlformats.org/presentationml/2006/main">
  <p:sldMasterIdLst>
    <p:sldMasterId xmlns:r="http://schemas.openxmlformats.org/officeDocument/2006/relationships" id="2147483648" r:id="Rbc26cd6c65914d3c"/>
  </p:sldMasterIdLst>
  <p:notesMasterIdLst>
    <p:notesMasterId xmlns:r="http://schemas.openxmlformats.org/officeDocument/2006/relationships" r:id="R94f6cca135e64463"/>
  </p:notesMasterIdLst>
  <p:sldIdLst>
    <p:sldId xmlns:r="http://schemas.openxmlformats.org/officeDocument/2006/relationships" id="256" r:id="R777bdb1100224f0a"/>
    <p:sldId xmlns:r="http://schemas.openxmlformats.org/officeDocument/2006/relationships" id="257" r:id="Ra24c9f1d0ba64d5f"/>
    <p:sldId xmlns:r="http://schemas.openxmlformats.org/officeDocument/2006/relationships" id="258" r:id="Rc3f4c45aa1894b61"/>
    <p:sldId xmlns:r="http://schemas.openxmlformats.org/officeDocument/2006/relationships" id="259" r:id="R0a437a9dfe1e490d"/>
    <p:sldId xmlns:r="http://schemas.openxmlformats.org/officeDocument/2006/relationships" id="260" r:id="Rfd8a2887acd94f4a"/>
    <p:sldId xmlns:r="http://schemas.openxmlformats.org/officeDocument/2006/relationships" id="261" r:id="R238725ba229c4e48"/>
    <p:sldId xmlns:r="http://schemas.openxmlformats.org/officeDocument/2006/relationships" id="262" r:id="R19d6b4b89c96415b"/>
    <p:sldId xmlns:r="http://schemas.openxmlformats.org/officeDocument/2006/relationships" id="263" r:id="R3f85df055fc344a5"/>
    <p:sldId xmlns:r="http://schemas.openxmlformats.org/officeDocument/2006/relationships" id="264" r:id="Rf0d2eb7595ab4f2c"/>
    <p:sldId xmlns:r="http://schemas.openxmlformats.org/officeDocument/2006/relationships" id="265" r:id="Rc3eb17a2724e4060"/>
    <p:sldId xmlns:r="http://schemas.openxmlformats.org/officeDocument/2006/relationships" id="266" r:id="R19f4d5fceaa1495f"/>
    <p:sldId xmlns:r="http://schemas.openxmlformats.org/officeDocument/2006/relationships" id="267" r:id="R13b4d3f06a1a452d"/>
    <p:sldId xmlns:r="http://schemas.openxmlformats.org/officeDocument/2006/relationships" id="268" r:id="Rbdeb1841c4664dde"/>
    <p:sldId xmlns:r="http://schemas.openxmlformats.org/officeDocument/2006/relationships" id="269" r:id="Re3012f89c0f2403e"/>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af7073fd5c43a8" /><Relationship Type="http://schemas.openxmlformats.org/officeDocument/2006/relationships/slideMaster" Target="/ppt/slideMasters/slideMaster1.xml" Id="Rbc26cd6c65914d3c" /><Relationship Type="http://schemas.openxmlformats.org/officeDocument/2006/relationships/notesMaster" Target="/ppt/notesMasters/notesMaster1.xml" Id="R94f6cca135e64463" /><Relationship Type="http://schemas.openxmlformats.org/officeDocument/2006/relationships/presProps" Target="/ppt/presProps.xml" Id="Rfdc8e9fe2dc64a9d" /><Relationship Type="http://schemas.openxmlformats.org/officeDocument/2006/relationships/tableStyles" Target="/ppt/tableStyles.xml" Id="R7e41b1801c534734" /><Relationship Type="http://schemas.openxmlformats.org/officeDocument/2006/relationships/slide" Target="/ppt/slides/slide1.xml" Id="R777bdb1100224f0a" /><Relationship Type="http://schemas.openxmlformats.org/officeDocument/2006/relationships/slide" Target="/ppt/slides/slide2.xml" Id="Ra24c9f1d0ba64d5f" /><Relationship Type="http://schemas.openxmlformats.org/officeDocument/2006/relationships/slide" Target="/ppt/slides/slide3.xml" Id="Rc3f4c45aa1894b61" /><Relationship Type="http://schemas.openxmlformats.org/officeDocument/2006/relationships/slide" Target="/ppt/slides/slide4.xml" Id="R0a437a9dfe1e490d" /><Relationship Type="http://schemas.openxmlformats.org/officeDocument/2006/relationships/slide" Target="/ppt/slides/slide5.xml" Id="Rfd8a2887acd94f4a" /><Relationship Type="http://schemas.openxmlformats.org/officeDocument/2006/relationships/slide" Target="/ppt/slides/slide6.xml" Id="R238725ba229c4e48" /><Relationship Type="http://schemas.openxmlformats.org/officeDocument/2006/relationships/slide" Target="/ppt/slides/slide7.xml" Id="R19d6b4b89c96415b" /><Relationship Type="http://schemas.openxmlformats.org/officeDocument/2006/relationships/slide" Target="/ppt/slides/slide8.xml" Id="R3f85df055fc344a5" /><Relationship Type="http://schemas.openxmlformats.org/officeDocument/2006/relationships/slide" Target="/ppt/slides/slide9.xml" Id="Rf0d2eb7595ab4f2c" /><Relationship Type="http://schemas.openxmlformats.org/officeDocument/2006/relationships/slide" Target="/ppt/slides/slide10.xml" Id="Rc3eb17a2724e4060" /><Relationship Type="http://schemas.openxmlformats.org/officeDocument/2006/relationships/slide" Target="/ppt/slides/slide11.xml" Id="R19f4d5fceaa1495f" /><Relationship Type="http://schemas.openxmlformats.org/officeDocument/2006/relationships/slide" Target="/ppt/slides/slide12.xml" Id="R13b4d3f06a1a452d" /><Relationship Type="http://schemas.openxmlformats.org/officeDocument/2006/relationships/slide" Target="/ppt/slides/slide13.xml" Id="Rbdeb1841c4664dde" /><Relationship Type="http://schemas.openxmlformats.org/officeDocument/2006/relationships/slide" Target="/ppt/slides/slide14.xml" Id="Re3012f89c0f240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9f5170eb3446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bd84b15a8d4f8e" /><Relationship Type="http://schemas.openxmlformats.org/officeDocument/2006/relationships/notesMaster" Target="/ppt/notesMasters/notesMaster1.xml" Id="R738fc007afff40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6b7b0ed6a943b9" /><Relationship Type="http://schemas.openxmlformats.org/officeDocument/2006/relationships/notesMaster" Target="/ppt/notesMasters/notesMaster1.xml" Id="R906b8a9580ae4f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3cd6c85de549f5" /><Relationship Type="http://schemas.openxmlformats.org/officeDocument/2006/relationships/notesMaster" Target="/ppt/notesMasters/notesMaster1.xml" Id="R65b0463e33e645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900ab40026406e" /><Relationship Type="http://schemas.openxmlformats.org/officeDocument/2006/relationships/notesMaster" Target="/ppt/notesMasters/notesMaster1.xml" Id="R9c9ac21924694f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a5f7a7b4174a8a" /><Relationship Type="http://schemas.openxmlformats.org/officeDocument/2006/relationships/notesMaster" Target="/ppt/notesMasters/notesMaster1.xml" Id="R880dd8bbfc0543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e2261ef8e04913" /><Relationship Type="http://schemas.openxmlformats.org/officeDocument/2006/relationships/notesMaster" Target="/ppt/notesMasters/notesMaster1.xml" Id="R9e302d1f621846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d3050579af4099" /><Relationship Type="http://schemas.openxmlformats.org/officeDocument/2006/relationships/notesMaster" Target="/ppt/notesMasters/notesMaster1.xml" Id="R76a27fb19a1d4b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28cfe7c5744959" /><Relationship Type="http://schemas.openxmlformats.org/officeDocument/2006/relationships/notesMaster" Target="/ppt/notesMasters/notesMaster1.xml" Id="Rba1a9f50ee0d4f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49fddb28fd4611" /><Relationship Type="http://schemas.openxmlformats.org/officeDocument/2006/relationships/notesMaster" Target="/ppt/notesMasters/notesMaster1.xml" Id="Rd2d1531341044a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6670982d174f3a" /><Relationship Type="http://schemas.openxmlformats.org/officeDocument/2006/relationships/notesMaster" Target="/ppt/notesMasters/notesMaster1.xml" Id="Rbbe2e3f1b33648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d5d44ccfda4f3c" /><Relationship Type="http://schemas.openxmlformats.org/officeDocument/2006/relationships/notesMaster" Target="/ppt/notesMasters/notesMaster1.xml" Id="R743f5ac5b30645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2e0f67c286449c" /><Relationship Type="http://schemas.openxmlformats.org/officeDocument/2006/relationships/notesMaster" Target="/ppt/notesMasters/notesMaster1.xml" Id="R41a0ed81dcc848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1d873b20754e19" /><Relationship Type="http://schemas.openxmlformats.org/officeDocument/2006/relationships/notesMaster" Target="/ppt/notesMasters/notesMaster1.xml" Id="Rfe78d3f31e204b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281a22799c4b5e" /><Relationship Type="http://schemas.openxmlformats.org/officeDocument/2006/relationships/notesMaster" Target="/ppt/notesMasters/notesMaster1.xml" Id="R3552aeecf14f49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 familiar delivery message can hide a scam. Maso gives everyday people a place to check before they act. Introduce Vincent Banda and Madalitso Ritch.</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delivery message, written for this presentation. This is a scenario, not a real victim case. Ask the audience whether they would click. Phishing means a message or website that tricks people into handing over private details.</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APWG Phishing Activity Trends Report, Q4 2025, https://docs.apwg.org/reports/apwg_trends_report_q4_2025.pdf. FBI IC3 2024 Internet Crime Report, https://www.ic3.gov/AnnualReport/Reports/2024_IC3Report.pdf. APWG counts observed attacks, not victims. IC3 reports $2,770,151,146 in business email compromise losses. These are historical, dated figures, not 2026 totals.</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users, not claimed customers or measured adoption. Keep the emphasis on people without a dedicated security team.</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captured from the running Maso frontend on 19 October 2026. The submitted test link matched OpenPhish Community. No phishing website was opened. The screenshot shows the real app, not a proposed interface. Source image: C:/Projects/Maso/tmp/slides/maso-live.png.</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extracts supported links, checks message and address text with separate classifiers, and optionally compares addresses against OpenPhish. Email upload parses .eml content. QR upload uses OpenCV. The frontend currently does not automatically visit destinations or follow shortened links.</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identifiers: ElSlay/BERT-Phishing-Email-Model, pinned revision 708d260869707ffdb0227c3c838ce957a736c9d6. CrabInHoney/urlbert-tiny-v4-phishing-classifier, pinned revision fd962a5cd04e20ceed46aa8a6e31a2b40d4c8916. Sources: https://huggingface.co/ElSlay/BERT-Phishing-Email-Model and https://huggingface.co/CrabInHoney/urlbert-tiny-v4-phishing-classifier and C:/Projects/Maso/docs/AI_TOOLS.md. The prototype uses existing trained models. Do not claim the team trained these models or validated a population accuracy percentage. Models run locally with Hugging Face Transformers and PyTorch.</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C:/Projects/Maso/app/openphish.py and docs/openphish-verification.json. Community feed URL: https://raw.githubusercontent.com/openphish/public_feed/refs/heads/main/feed.txt. The prototype compares exact normalized URL hashes locally. The cached list expires after 12 hours. A match is separate from the model score and makes the overall result unsafe. No match is not proof of safety. Community licensing permission must be reviewed before business deployment.</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 wording shown here reflects the current frontend behaviour. Avoid implying the AI generates a detailed causal explanation. Model predictions and confirmed reported-link matches are separate. Low risk is never a guarantee of safety.</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app/providers.py fails when the required model cannot run. app/engine.py returns HTTP 503 and no verdict on model failure. app/observability.py logs operational events without raw input content, URLs or keys. app/openphish.py compares submitted links locally. These checks do not claim all browser/network infrastructure stores nothing, and are not a formal privacy audit.</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date: 19 October 2026. Evidence: C:/Projects/Maso/docs/openphish-verification.json reports a fresh live feed with 300 entries, listed_url_match=true, control_url_match=false, real_model_inference=completed and safety_status=unsafe. The actual frontend also completed the listed-link check during presentation preparation. These are functional checks, not an accuracy benchmark or a claim about the entire OpenPhish database.</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current temporary public tunnel URL only while it remains active: https://elite-charity-argue-karen.trycloudflare.com. Local alternative: http://127.0.0.1:5173/. Keep the frontend, backend and tunnel running. Enable Check OpenPhish scam reports. First use an ordinary message, then a suspicious request, then a currently listed link, then a prepared QR image or .eml file. Never open listed phishing websites. If a listed link expires, choose a fresh entry. Source: output/pdf/Maso-Frontend-Test-Pack.pdf.</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not completed claims: independent held-out evaluation, broader language testing, response-time and concurrent-load measurement, improved input-specific explanations and robust hosted deployment. The &lt;=5 second and 1,000 concurrent-user targets from the original brief have not been established. Exact brand impersonation detection and sender mismatch evidence are not fully integrated. Commercial OpenPhish licensing must be addressed before business use.</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Maso gives people a chance to pause before a risky click. Invite judges to try the demo and ask questions. Thank the audience. Presenters: Vincent Banda and Madalitso Ritch.</a:t>
            </a:r>
          </a:p>
          <a:p xmlns:a="http://schemas.openxmlformats.org/drawingml/2006/main">
            <a:r>
              <a:t/>
            </a:r>
          </a:p>
          <a:p xmlns:a="http://schemas.openxmlformats.org/drawingml/2006/main">
            <a:r>
              <a:t>Design assets: green gradient artwork from the user-supplied C:/Users/Predator/Downloads/Maso Agent.pptx. Product claims checked against C:/Projects/Maso/app/providers.py, app/engine.py and app/main.py, and C:/Projects/MasoFront/src/App.jsx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911d26947c4b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36647928ef4c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a852c72b9649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88b559c11140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0c56989e2234f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3c82438bff4b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26E1F2-0FF7-4E5E-A540-B651E7AF4EB2}"/>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68A525-130E-42D1-ACAE-D658CCC8F7A1}"/>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F6C6C3-2D8D-4274-A33C-3CB018B0C5FA}"/>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1F6AD9-ECAD-487B-A30F-C7600A646624}"/>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63D7EC8-CC59-4D7A-BF8D-B216ECC5B8E6}"/>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9E44A4-C404-4FAD-8737-43738125DAC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A75EE4-8B5B-4A2F-9B31-9055D7CFA0A4}"/>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7F3867-796C-4E9D-A6C0-158D655970A1}"/>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5AC453-297E-48E5-A9B3-AAC89681BEC5}"/>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CAD848-DBB1-44B9-96AF-959B8ABEE204}"/>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330ba1fb674b52" /><Relationship Type="http://schemas.openxmlformats.org/officeDocument/2006/relationships/slideLayout" Target="/ppt/slideLayouts/slideLayout1.xml" Id="R09de0e0f7686495f" /><Relationship Type="http://schemas.openxmlformats.org/officeDocument/2006/relationships/slideLayout" Target="/ppt/slideLayouts/slideLayout2.xml" Id="R6c68fbda49004194" /><Relationship Type="http://schemas.openxmlformats.org/officeDocument/2006/relationships/slideLayout" Target="/ppt/slideLayouts/slideLayout3.xml" Id="R84a0928ca3674827" /><Relationship Type="http://schemas.openxmlformats.org/officeDocument/2006/relationships/slideLayout" Target="/ppt/slideLayouts/slideLayout4.xml" Id="R1478fe5aaad14702" /><Relationship Type="http://schemas.openxmlformats.org/officeDocument/2006/relationships/slideLayout" Target="/ppt/slideLayouts/slideLayout5.xml" Id="Rfd521229383d476c" /><Relationship Type="http://schemas.openxmlformats.org/officeDocument/2006/relationships/slideLayout" Target="/ppt/slideLayouts/slideLayout6.xml" Id="R1a976a78d7354c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de0e0f7686495f"/>
    <p:sldLayoutId xmlns:r="http://schemas.openxmlformats.org/officeDocument/2006/relationships" id="2147483650" r:id="R6c68fbda49004194"/>
    <p:sldLayoutId xmlns:r="http://schemas.openxmlformats.org/officeDocument/2006/relationships" id="2147483651" r:id="R84a0928ca3674827"/>
    <p:sldLayoutId xmlns:r="http://schemas.openxmlformats.org/officeDocument/2006/relationships" id="2147483652" r:id="R1478fe5aaad14702"/>
    <p:sldLayoutId xmlns:r="http://schemas.openxmlformats.org/officeDocument/2006/relationships" id="2147483653" r:id="Rfd521229383d476c"/>
    <p:sldLayoutId xmlns:r="http://schemas.openxmlformats.org/officeDocument/2006/relationships" id="2147483654" r:id="R1a976a78d7354c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a746343edc49a8" /><Relationship Type="http://schemas.openxmlformats.org/officeDocument/2006/relationships/image" Target="/ppt/media/image.png" Id="Rc6bd46748b9349f6" /><Relationship Type="http://schemas.openxmlformats.org/officeDocument/2006/relationships/notesSlide" Target="/ppt/notesSlides/notesSlide1.xml" Id="R64da77c0004c4f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2981ac10b54e77" /><Relationship Type="http://schemas.openxmlformats.org/officeDocument/2006/relationships/image" Target="/ppt/media/image2.png" Id="R7acf2c75669e4dd1" /><Relationship Type="http://schemas.openxmlformats.org/officeDocument/2006/relationships/notesSlide" Target="/ppt/notesSlides/notesSlide2.xml" Id="R4a53663e6ec14f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401777d608458c" /><Relationship Type="http://schemas.openxmlformats.org/officeDocument/2006/relationships/image" Target="/ppt/media/image3.png" Id="R7320ab855f334d33" /><Relationship Type="http://schemas.openxmlformats.org/officeDocument/2006/relationships/notesSlide" Target="/ppt/notesSlides/notesSlide3.xml" Id="R71e44d39b11641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e991b9fe084e12" /><Relationship Type="http://schemas.openxmlformats.org/officeDocument/2006/relationships/image" Target="/ppt/media/image4.png" Id="Rbcaed74e3ef24e55" /><Relationship Type="http://schemas.openxmlformats.org/officeDocument/2006/relationships/notesSlide" Target="/ppt/notesSlides/notesSlide4.xml" Id="Rbf5f8c3c55d74c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eaef1b99544aa0" /><Relationship Type="http://schemas.openxmlformats.org/officeDocument/2006/relationships/image" Target="/ppt/media/image5.png" Id="R12d8d089428d4ac7" /><Relationship Type="http://schemas.openxmlformats.org/officeDocument/2006/relationships/image" Target="/ppt/media/image6.png" Id="R3ad762069a5b4ab0" /><Relationship Type="http://schemas.openxmlformats.org/officeDocument/2006/relationships/notesSlide" Target="/ppt/notesSlides/notesSlide5.xml" Id="R617ca798a0fe4b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c82c3231754806" /><Relationship Type="http://schemas.openxmlformats.org/officeDocument/2006/relationships/image" Target="/ppt/media/image7.png" Id="R2d92313a502d49e2" /><Relationship Type="http://schemas.openxmlformats.org/officeDocument/2006/relationships/notesSlide" Target="/ppt/notesSlides/notesSlide6.xml" Id="Rc574c0eba69a49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50446db280a427c" /><Relationship Type="http://schemas.openxmlformats.org/officeDocument/2006/relationships/image" Target="/ppt/media/image8.png" Id="Rf2650febc45a4f85" /><Relationship Type="http://schemas.openxmlformats.org/officeDocument/2006/relationships/notesSlide" Target="/ppt/notesSlides/notesSlide7.xml" Id="R72a34ed8d25e40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31ebb366d5a4d36" /><Relationship Type="http://schemas.openxmlformats.org/officeDocument/2006/relationships/image" Target="/ppt/media/image9.png" Id="Racebb2dd76ad44ee" /><Relationship Type="http://schemas.openxmlformats.org/officeDocument/2006/relationships/notesSlide" Target="/ppt/notesSlides/notesSlide8.xml" Id="R135aa6023c5942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7aacea26214782" /><Relationship Type="http://schemas.openxmlformats.org/officeDocument/2006/relationships/image" Target="/ppt/media/image10.png" Id="Ra640331f81874803" /><Relationship Type="http://schemas.openxmlformats.org/officeDocument/2006/relationships/notesSlide" Target="/ppt/notesSlides/notesSlide9.xml" Id="R145c2d5855214c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0bb805d7e344479" /><Relationship Type="http://schemas.openxmlformats.org/officeDocument/2006/relationships/image" Target="/ppt/media/image11.png" Id="R1711397a1b3d4633" /><Relationship Type="http://schemas.openxmlformats.org/officeDocument/2006/relationships/notesSlide" Target="/ppt/notesSlides/notesSlide10.xml" Id="Rf2a2baea4c1146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a1d1da8cd6341b8" /><Relationship Type="http://schemas.openxmlformats.org/officeDocument/2006/relationships/image" Target="/ppt/media/image12.png" Id="R93821cd62b0743b9" /><Relationship Type="http://schemas.openxmlformats.org/officeDocument/2006/relationships/notesSlide" Target="/ppt/notesSlides/notesSlide11.xml" Id="R86f9146f0d1749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d48229a85a644b0" /><Relationship Type="http://schemas.openxmlformats.org/officeDocument/2006/relationships/image" Target="/ppt/media/image13.png" Id="Rad0b1f9416e64f3a" /><Relationship Type="http://schemas.openxmlformats.org/officeDocument/2006/relationships/notesSlide" Target="/ppt/notesSlides/notesSlide12.xml" Id="R84a987701db949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20b44d18be47f9" /><Relationship Type="http://schemas.openxmlformats.org/officeDocument/2006/relationships/image" Target="/ppt/media/image14.png" Id="Ra382153d8bb74bc2" /><Relationship Type="http://schemas.openxmlformats.org/officeDocument/2006/relationships/notesSlide" Target="/ppt/notesSlides/notesSlide13.xml" Id="R82bc8cc5b36641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86513e3e0d04730" /><Relationship Type="http://schemas.openxmlformats.org/officeDocument/2006/relationships/image" Target="/ppt/media/image15.png" Id="R395c6dcbc4ce4c8e" /><Relationship Type="http://schemas.openxmlformats.org/officeDocument/2006/relationships/notesSlide" Target="/ppt/notesSlides/notesSlide14.xml" Id="Rd49dc84b52bf481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40B12CB-0B4F-4057-ABF1-A9235AB8D703}"/>
              </a:ext>
            </a:extLst>
          </p:cNvPr>
          <p:cNvPicPr>
            <a:picLocks xmlns:a="http://schemas.openxmlformats.org/drawingml/2006/main" noChangeAspect="1"/>
          </p:cNvPicPr>
          <p:nvPr/>
        </p:nvPicPr>
        <p:blipFill>
          <a:blip xmlns:r="http://schemas.openxmlformats.org/officeDocument/2006/relationships" xmlns:a="http://schemas.openxmlformats.org/drawingml/2006/main" r:embed="Rc6bd46748b9349f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2846B1-3838-40ED-AFC0-28ABBA977537}"/>
              </a:ext>
            </a:extLst>
          </p:cNvPr>
          <p:cNvSpPr>
            <a:spLocks xmlns:a="http://schemas.openxmlformats.org/drawingml/2006/main" noGrp="1"/>
          </p:cNvSpPr>
          <p:nvPr/>
        </p:nvSpPr>
        <p:spPr>
          <a:xfrm xmlns:a="http://schemas.openxmlformats.org/drawingml/2006/main">
            <a:off x="628650" y="1123950"/>
            <a:ext cx="533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079E8C"/>
                </a:solidFill>
                <a:latin typeface="Arial"/>
                <a:ea typeface="Arial"/>
                <a:cs typeface="Arial"/>
              </a:defRPr>
            </a:defPPr>
            <a:lvl1pPr>
              <a:defRPr sz="6600" b="1">
                <a:solidFill>
                  <a:srgbClr val="079E8C"/>
                </a:solidFill>
                <a:latin typeface="Arial"/>
                <a:ea typeface="Arial"/>
                <a:cs typeface="Arial"/>
              </a:defRPr>
            </a:lvl1pPr>
            <a:lvl2pPr>
              <a:defRPr sz="6600" b="1">
                <a:solidFill>
                  <a:srgbClr val="079E8C"/>
                </a:solidFill>
                <a:latin typeface="Arial"/>
                <a:ea typeface="Arial"/>
                <a:cs typeface="Arial"/>
              </a:defRPr>
            </a:lvl2pPr>
            <a:lvl3pPr>
              <a:defRPr sz="6600" b="1">
                <a:solidFill>
                  <a:srgbClr val="079E8C"/>
                </a:solidFill>
                <a:latin typeface="Arial"/>
                <a:ea typeface="Arial"/>
                <a:cs typeface="Arial"/>
              </a:defRPr>
            </a:lvl3pPr>
            <a:lvl4pPr>
              <a:defRPr sz="6600" b="1">
                <a:solidFill>
                  <a:srgbClr val="079E8C"/>
                </a:solidFill>
                <a:latin typeface="Arial"/>
                <a:ea typeface="Arial"/>
                <a:cs typeface="Arial"/>
              </a:defRPr>
            </a:lvl4pPr>
            <a:lvl5pPr>
              <a:defRPr sz="6600" b="1">
                <a:solidFill>
                  <a:srgbClr val="079E8C"/>
                </a:solidFill>
                <a:latin typeface="Arial"/>
                <a:ea typeface="Arial"/>
                <a:cs typeface="Arial"/>
              </a:defRPr>
            </a:lvl5pPr>
            <a:lvl6pPr>
              <a:defRPr sz="6600" b="1">
                <a:solidFill>
                  <a:srgbClr val="079E8C"/>
                </a:solidFill>
                <a:latin typeface="Arial"/>
                <a:ea typeface="Arial"/>
                <a:cs typeface="Arial"/>
              </a:defRPr>
            </a:lvl6pPr>
            <a:lvl7pPr>
              <a:defRPr sz="6600" b="1">
                <a:solidFill>
                  <a:srgbClr val="079E8C"/>
                </a:solidFill>
                <a:latin typeface="Arial"/>
                <a:ea typeface="Arial"/>
                <a:cs typeface="Arial"/>
              </a:defRPr>
            </a:lvl7pPr>
            <a:lvl8pPr>
              <a:defRPr sz="6600" b="1">
                <a:solidFill>
                  <a:srgbClr val="079E8C"/>
                </a:solidFill>
                <a:latin typeface="Arial"/>
                <a:ea typeface="Arial"/>
                <a:cs typeface="Arial"/>
              </a:defRPr>
            </a:lvl8pPr>
            <a:lvl9pPr>
              <a:defRPr sz="6600" b="1">
                <a:solidFill>
                  <a:srgbClr val="079E8C"/>
                </a:solidFill>
                <a:latin typeface="Arial"/>
                <a:ea typeface="Arial"/>
                <a:cs typeface="Arial"/>
              </a:defRPr>
            </a:lvl9pPr>
          </a:lstStyle>
          <a:p xmlns:a="http://schemas.openxmlformats.org/drawingml/2006/main">
            <a:pPr>
              <a:defRPr sz="6600" b="1">
                <a:solidFill>
                  <a:srgbClr val="079E8C"/>
                </a:solidFill>
                <a:latin typeface="Arial"/>
                <a:ea typeface="Arial"/>
                <a:cs typeface="Arial"/>
              </a:defRPr>
            </a:pPr>
            <a:r>
              <a:rPr sz="6600" b="1">
                <a:solidFill>
                  <a:srgbClr val="079E8C"/>
                </a:solidFill>
                <a:latin typeface="Arial"/>
                <a:ea typeface="Arial"/>
                <a:cs typeface="Arial"/>
              </a:rPr>
              <a:t>MASO</a:t>
            </a:r>
          </a:p>
        </p:txBody>
      </p:sp>
      <p:sp>
        <p:nvSpPr>
          <p:cNvPr id="3" name="">
            <a:extLst xmlns:a="http://schemas.openxmlformats.org/drawingml/2006/main">
              <a:ext uri="{FF2B5EF4-FFF2-40B4-BE49-F238E27FC236}">
                <a16:creationId xmlns:a16="http://schemas.microsoft.com/office/drawing/2014/main" id="{DA2E843C-4396-4199-B775-6D02AE402920}"/>
              </a:ext>
            </a:extLst>
          </p:cNvPr>
          <p:cNvSpPr>
            <a:spLocks xmlns:a="http://schemas.openxmlformats.org/drawingml/2006/main" noGrp="1"/>
          </p:cNvSpPr>
          <p:nvPr/>
        </p:nvSpPr>
        <p:spPr>
          <a:xfrm xmlns:a="http://schemas.openxmlformats.org/drawingml/2006/main">
            <a:off x="666750" y="235267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43A45"/>
                </a:solidFill>
                <a:latin typeface="Arial"/>
                <a:ea typeface="Arial"/>
                <a:cs typeface="Arial"/>
              </a:defRPr>
            </a:defPPr>
            <a:lvl1pPr>
              <a:defRPr sz="2400" b="1">
                <a:solidFill>
                  <a:srgbClr val="243A45"/>
                </a:solidFill>
                <a:latin typeface="Arial"/>
                <a:ea typeface="Arial"/>
                <a:cs typeface="Arial"/>
              </a:defRPr>
            </a:lvl1pPr>
            <a:lvl2pPr>
              <a:defRPr sz="2400" b="1">
                <a:solidFill>
                  <a:srgbClr val="243A45"/>
                </a:solidFill>
                <a:latin typeface="Arial"/>
                <a:ea typeface="Arial"/>
                <a:cs typeface="Arial"/>
              </a:defRPr>
            </a:lvl2pPr>
            <a:lvl3pPr>
              <a:defRPr sz="2400" b="1">
                <a:solidFill>
                  <a:srgbClr val="243A45"/>
                </a:solidFill>
                <a:latin typeface="Arial"/>
                <a:ea typeface="Arial"/>
                <a:cs typeface="Arial"/>
              </a:defRPr>
            </a:lvl3pPr>
            <a:lvl4pPr>
              <a:defRPr sz="2400" b="1">
                <a:solidFill>
                  <a:srgbClr val="243A45"/>
                </a:solidFill>
                <a:latin typeface="Arial"/>
                <a:ea typeface="Arial"/>
                <a:cs typeface="Arial"/>
              </a:defRPr>
            </a:lvl4pPr>
            <a:lvl5pPr>
              <a:defRPr sz="2400" b="1">
                <a:solidFill>
                  <a:srgbClr val="243A45"/>
                </a:solidFill>
                <a:latin typeface="Arial"/>
                <a:ea typeface="Arial"/>
                <a:cs typeface="Arial"/>
              </a:defRPr>
            </a:lvl5pPr>
            <a:lvl6pPr>
              <a:defRPr sz="2400" b="1">
                <a:solidFill>
                  <a:srgbClr val="243A45"/>
                </a:solidFill>
                <a:latin typeface="Arial"/>
                <a:ea typeface="Arial"/>
                <a:cs typeface="Arial"/>
              </a:defRPr>
            </a:lvl6pPr>
            <a:lvl7pPr>
              <a:defRPr sz="2400" b="1">
                <a:solidFill>
                  <a:srgbClr val="243A45"/>
                </a:solidFill>
                <a:latin typeface="Arial"/>
                <a:ea typeface="Arial"/>
                <a:cs typeface="Arial"/>
              </a:defRPr>
            </a:lvl7pPr>
            <a:lvl8pPr>
              <a:defRPr sz="2400" b="1">
                <a:solidFill>
                  <a:srgbClr val="243A45"/>
                </a:solidFill>
                <a:latin typeface="Arial"/>
                <a:ea typeface="Arial"/>
                <a:cs typeface="Arial"/>
              </a:defRPr>
            </a:lvl8pPr>
            <a:lvl9pPr>
              <a:defRPr sz="2400" b="1">
                <a:solidFill>
                  <a:srgbClr val="243A45"/>
                </a:solidFill>
                <a:latin typeface="Arial"/>
                <a:ea typeface="Arial"/>
                <a:cs typeface="Arial"/>
              </a:defRPr>
            </a:lvl9pPr>
          </a:lstStyle>
          <a:p xmlns:a="http://schemas.openxmlformats.org/drawingml/2006/main">
            <a:pPr>
              <a:defRPr sz="2400" b="1">
                <a:solidFill>
                  <a:srgbClr val="243A45"/>
                </a:solidFill>
                <a:latin typeface="Arial"/>
                <a:ea typeface="Arial"/>
                <a:cs typeface="Arial"/>
              </a:defRPr>
            </a:pPr>
            <a:r>
              <a:rPr sz="2400" b="1">
                <a:solidFill>
                  <a:srgbClr val="243A45"/>
                </a:solidFill>
                <a:latin typeface="Arial"/>
                <a:ea typeface="Arial"/>
                <a:cs typeface="Arial"/>
              </a:rPr>
              <a:t>Your AI link safety buddy</a:t>
            </a:r>
          </a:p>
        </p:txBody>
      </p:sp>
      <p:sp>
        <p:nvSpPr>
          <p:cNvPr id="4" name="">
            <a:extLst xmlns:a="http://schemas.openxmlformats.org/drawingml/2006/main">
              <a:ext uri="{FF2B5EF4-FFF2-40B4-BE49-F238E27FC236}">
                <a16:creationId xmlns:a16="http://schemas.microsoft.com/office/drawing/2014/main" id="{A2876B20-AD1C-432D-AE39-AE8B7BBE2C1C}"/>
              </a:ext>
            </a:extLst>
          </p:cNvPr>
          <p:cNvSpPr>
            <a:spLocks xmlns:a="http://schemas.openxmlformats.org/drawingml/2006/main" noGrp="1"/>
          </p:cNvSpPr>
          <p:nvPr/>
        </p:nvSpPr>
        <p:spPr>
          <a:xfrm xmlns:a="http://schemas.openxmlformats.org/drawingml/2006/main">
            <a:off x="666750" y="30289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86772"/>
                </a:solidFill>
                <a:latin typeface="Arial"/>
                <a:ea typeface="Arial"/>
                <a:cs typeface="Arial"/>
              </a:defRPr>
            </a:defPPr>
            <a:lvl1pPr>
              <a:defRPr sz="1950" b="0">
                <a:solidFill>
                  <a:srgbClr val="586772"/>
                </a:solidFill>
                <a:latin typeface="Arial"/>
                <a:ea typeface="Arial"/>
                <a:cs typeface="Arial"/>
              </a:defRPr>
            </a:lvl1pPr>
            <a:lvl2pPr>
              <a:defRPr sz="1950" b="0">
                <a:solidFill>
                  <a:srgbClr val="586772"/>
                </a:solidFill>
                <a:latin typeface="Arial"/>
                <a:ea typeface="Arial"/>
                <a:cs typeface="Arial"/>
              </a:defRPr>
            </a:lvl2pPr>
            <a:lvl3pPr>
              <a:defRPr sz="1950" b="0">
                <a:solidFill>
                  <a:srgbClr val="586772"/>
                </a:solidFill>
                <a:latin typeface="Arial"/>
                <a:ea typeface="Arial"/>
                <a:cs typeface="Arial"/>
              </a:defRPr>
            </a:lvl3pPr>
            <a:lvl4pPr>
              <a:defRPr sz="1950" b="0">
                <a:solidFill>
                  <a:srgbClr val="586772"/>
                </a:solidFill>
                <a:latin typeface="Arial"/>
                <a:ea typeface="Arial"/>
                <a:cs typeface="Arial"/>
              </a:defRPr>
            </a:lvl4pPr>
            <a:lvl5pPr>
              <a:defRPr sz="1950" b="0">
                <a:solidFill>
                  <a:srgbClr val="586772"/>
                </a:solidFill>
                <a:latin typeface="Arial"/>
                <a:ea typeface="Arial"/>
                <a:cs typeface="Arial"/>
              </a:defRPr>
            </a:lvl5pPr>
            <a:lvl6pPr>
              <a:defRPr sz="1950" b="0">
                <a:solidFill>
                  <a:srgbClr val="586772"/>
                </a:solidFill>
                <a:latin typeface="Arial"/>
                <a:ea typeface="Arial"/>
                <a:cs typeface="Arial"/>
              </a:defRPr>
            </a:lvl6pPr>
            <a:lvl7pPr>
              <a:defRPr sz="1950" b="0">
                <a:solidFill>
                  <a:srgbClr val="586772"/>
                </a:solidFill>
                <a:latin typeface="Arial"/>
                <a:ea typeface="Arial"/>
                <a:cs typeface="Arial"/>
              </a:defRPr>
            </a:lvl7pPr>
            <a:lvl8pPr>
              <a:defRPr sz="1950" b="0">
                <a:solidFill>
                  <a:srgbClr val="586772"/>
                </a:solidFill>
                <a:latin typeface="Arial"/>
                <a:ea typeface="Arial"/>
                <a:cs typeface="Arial"/>
              </a:defRPr>
            </a:lvl8pPr>
            <a:lvl9pPr>
              <a:defRPr sz="1950" b="0">
                <a:solidFill>
                  <a:srgbClr val="586772"/>
                </a:solidFill>
                <a:latin typeface="Arial"/>
                <a:ea typeface="Arial"/>
                <a:cs typeface="Arial"/>
              </a:defRPr>
            </a:lvl9pPr>
          </a:lstStyle>
          <a:p xmlns:a="http://schemas.openxmlformats.org/drawingml/2006/main">
            <a:pPr>
              <a:defRPr sz="1950" b="0">
                <a:solidFill>
                  <a:srgbClr val="586772"/>
                </a:solidFill>
                <a:latin typeface="Arial"/>
                <a:ea typeface="Arial"/>
                <a:cs typeface="Arial"/>
              </a:defRPr>
            </a:pPr>
            <a:r>
              <a:rPr sz="1950" b="0">
                <a:solidFill>
                  <a:srgbClr val="586772"/>
                </a:solidFill>
                <a:latin typeface="Arial"/>
                <a:ea typeface="Arial"/>
                <a:cs typeface="Arial"/>
              </a:rPr>
              <a:t>A second check before the click</a:t>
            </a:r>
          </a:p>
        </p:txBody>
      </p:sp>
      <p:sp>
        <p:nvSpPr>
          <p:cNvPr id="5" name="">
            <a:extLst xmlns:a="http://schemas.openxmlformats.org/drawingml/2006/main">
              <a:ext uri="{FF2B5EF4-FFF2-40B4-BE49-F238E27FC236}">
                <a16:creationId xmlns:a16="http://schemas.microsoft.com/office/drawing/2014/main" id="{5B726F58-1F99-44E3-A56D-DE30C0EBE3F5}"/>
              </a:ext>
            </a:extLst>
          </p:cNvPr>
          <p:cNvSpPr>
            <a:spLocks xmlns:a="http://schemas.openxmlformats.org/drawingml/2006/main" noGrp="1"/>
          </p:cNvSpPr>
          <p:nvPr/>
        </p:nvSpPr>
        <p:spPr>
          <a:xfrm xmlns:a="http://schemas.openxmlformats.org/drawingml/2006/main">
            <a:off x="666750" y="407670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43A45"/>
                </a:solidFill>
                <a:latin typeface="Arial"/>
                <a:ea typeface="Arial"/>
                <a:cs typeface="Arial"/>
              </a:defRPr>
            </a:defPPr>
            <a:lvl1pPr>
              <a:defRPr sz="1725" b="0">
                <a:solidFill>
                  <a:srgbClr val="243A45"/>
                </a:solidFill>
                <a:latin typeface="Arial"/>
                <a:ea typeface="Arial"/>
                <a:cs typeface="Arial"/>
              </a:defRPr>
            </a:lvl1pPr>
            <a:lvl2pPr>
              <a:defRPr sz="1725" b="0">
                <a:solidFill>
                  <a:srgbClr val="243A45"/>
                </a:solidFill>
                <a:latin typeface="Arial"/>
                <a:ea typeface="Arial"/>
                <a:cs typeface="Arial"/>
              </a:defRPr>
            </a:lvl2pPr>
            <a:lvl3pPr>
              <a:defRPr sz="1725" b="0">
                <a:solidFill>
                  <a:srgbClr val="243A45"/>
                </a:solidFill>
                <a:latin typeface="Arial"/>
                <a:ea typeface="Arial"/>
                <a:cs typeface="Arial"/>
              </a:defRPr>
            </a:lvl3pPr>
            <a:lvl4pPr>
              <a:defRPr sz="1725" b="0">
                <a:solidFill>
                  <a:srgbClr val="243A45"/>
                </a:solidFill>
                <a:latin typeface="Arial"/>
                <a:ea typeface="Arial"/>
                <a:cs typeface="Arial"/>
              </a:defRPr>
            </a:lvl4pPr>
            <a:lvl5pPr>
              <a:defRPr sz="1725" b="0">
                <a:solidFill>
                  <a:srgbClr val="243A45"/>
                </a:solidFill>
                <a:latin typeface="Arial"/>
                <a:ea typeface="Arial"/>
                <a:cs typeface="Arial"/>
              </a:defRPr>
            </a:lvl5pPr>
            <a:lvl6pPr>
              <a:defRPr sz="1725" b="0">
                <a:solidFill>
                  <a:srgbClr val="243A45"/>
                </a:solidFill>
                <a:latin typeface="Arial"/>
                <a:ea typeface="Arial"/>
                <a:cs typeface="Arial"/>
              </a:defRPr>
            </a:lvl6pPr>
            <a:lvl7pPr>
              <a:defRPr sz="1725" b="0">
                <a:solidFill>
                  <a:srgbClr val="243A45"/>
                </a:solidFill>
                <a:latin typeface="Arial"/>
                <a:ea typeface="Arial"/>
                <a:cs typeface="Arial"/>
              </a:defRPr>
            </a:lvl7pPr>
            <a:lvl8pPr>
              <a:defRPr sz="1725" b="0">
                <a:solidFill>
                  <a:srgbClr val="243A45"/>
                </a:solidFill>
                <a:latin typeface="Arial"/>
                <a:ea typeface="Arial"/>
                <a:cs typeface="Arial"/>
              </a:defRPr>
            </a:lvl8pPr>
            <a:lvl9pPr>
              <a:defRPr sz="1725" b="0">
                <a:solidFill>
                  <a:srgbClr val="243A45"/>
                </a:solidFill>
                <a:latin typeface="Arial"/>
                <a:ea typeface="Arial"/>
                <a:cs typeface="Arial"/>
              </a:defRPr>
            </a:lvl9pPr>
          </a:lstStyle>
          <a:p xmlns:a="http://schemas.openxmlformats.org/drawingml/2006/main">
            <a:pPr>
              <a:defRPr sz="1725" b="0">
                <a:solidFill>
                  <a:srgbClr val="243A45"/>
                </a:solidFill>
                <a:latin typeface="Arial"/>
                <a:ea typeface="Arial"/>
                <a:cs typeface="Arial"/>
              </a:defRPr>
            </a:pPr>
            <a:r>
              <a:rPr sz="1725" b="0">
                <a:solidFill>
                  <a:srgbClr val="243A45"/>
                </a:solidFill>
                <a:latin typeface="Arial"/>
                <a:ea typeface="Arial"/>
                <a:cs typeface="Arial"/>
              </a:rPr>
              <a:t>Vincent Banda</a:t>
            </a:r>
          </a:p>
          <a:p xmlns:a="http://schemas.openxmlformats.org/drawingml/2006/main">
            <a:pPr>
              <a:defRPr sz="1725" b="0">
                <a:solidFill>
                  <a:srgbClr val="243A45"/>
                </a:solidFill>
                <a:latin typeface="Arial"/>
                <a:ea typeface="Arial"/>
                <a:cs typeface="Arial"/>
              </a:defRPr>
            </a:pPr>
            <a:r>
              <a:rPr sz="1725" b="0">
                <a:solidFill>
                  <a:srgbClr val="243A45"/>
                </a:solidFill>
                <a:latin typeface="Arial"/>
                <a:ea typeface="Arial"/>
                <a:cs typeface="Arial"/>
              </a:rPr>
              <a:t>Madalitso Ritch</a:t>
            </a:r>
          </a:p>
        </p:txBody>
      </p:sp>
    </p:spTree>
    <p:extLst>
      <p:ext uri="{BB962C8B-B14F-4D97-AF65-F5344CB8AC3E}">
        <p14:creationId xmlns:p14="http://schemas.microsoft.com/office/powerpoint/2010/main" val="3440274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13FD3AB-C6DD-46A5-AF2B-21B23FAE5B02}"/>
              </a:ext>
            </a:extLst>
          </p:cNvPr>
          <p:cNvPicPr>
            <a:picLocks xmlns:a="http://schemas.openxmlformats.org/drawingml/2006/main" noChangeAspect="1"/>
          </p:cNvPicPr>
          <p:nvPr/>
        </p:nvPicPr>
        <p:blipFill>
          <a:blip xmlns:r="http://schemas.openxmlformats.org/officeDocument/2006/relationships" xmlns:a="http://schemas.openxmlformats.org/drawingml/2006/main" r:embed="R7acf2c75669e4dd1"/>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BC445F-1177-4263-B04F-8C7F7332130E}"/>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The message looks ordinary</a:t>
            </a:r>
          </a:p>
        </p:txBody>
      </p:sp>
      <p:sp>
        <p:nvSpPr>
          <p:cNvPr id="3" name="">
            <a:extLst xmlns:a="http://schemas.openxmlformats.org/drawingml/2006/main">
              <a:ext uri="{FF2B5EF4-FFF2-40B4-BE49-F238E27FC236}">
                <a16:creationId xmlns:a16="http://schemas.microsoft.com/office/drawing/2014/main" id="{8B5B0157-9DDE-4C5E-964E-BADA546CAC96}"/>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4720592C-A59D-4CCA-80C8-3CED71FC75FC}"/>
              </a:ext>
            </a:extLst>
          </p:cNvPr>
          <p:cNvSpPr>
            <a:spLocks xmlns:a="http://schemas.openxmlformats.org/drawingml/2006/main" noGrp="1"/>
          </p:cNvSpPr>
          <p:nvPr/>
        </p:nvSpPr>
        <p:spPr>
          <a:xfrm xmlns:a="http://schemas.openxmlformats.org/drawingml/2006/main">
            <a:off x="666750" y="1381125"/>
            <a:ext cx="7905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43A45"/>
                </a:solidFill>
                <a:latin typeface="Arial"/>
                <a:ea typeface="Arial"/>
                <a:cs typeface="Arial"/>
              </a:defRPr>
            </a:defPPr>
            <a:lvl1pPr>
              <a:defRPr sz="3000" b="1">
                <a:solidFill>
                  <a:srgbClr val="243A45"/>
                </a:solidFill>
                <a:latin typeface="Arial"/>
                <a:ea typeface="Arial"/>
                <a:cs typeface="Arial"/>
              </a:defRPr>
            </a:lvl1pPr>
            <a:lvl2pPr>
              <a:defRPr sz="3000" b="1">
                <a:solidFill>
                  <a:srgbClr val="243A45"/>
                </a:solidFill>
                <a:latin typeface="Arial"/>
                <a:ea typeface="Arial"/>
                <a:cs typeface="Arial"/>
              </a:defRPr>
            </a:lvl2pPr>
            <a:lvl3pPr>
              <a:defRPr sz="3000" b="1">
                <a:solidFill>
                  <a:srgbClr val="243A45"/>
                </a:solidFill>
                <a:latin typeface="Arial"/>
                <a:ea typeface="Arial"/>
                <a:cs typeface="Arial"/>
              </a:defRPr>
            </a:lvl3pPr>
            <a:lvl4pPr>
              <a:defRPr sz="3000" b="1">
                <a:solidFill>
                  <a:srgbClr val="243A45"/>
                </a:solidFill>
                <a:latin typeface="Arial"/>
                <a:ea typeface="Arial"/>
                <a:cs typeface="Arial"/>
              </a:defRPr>
            </a:lvl4pPr>
            <a:lvl5pPr>
              <a:defRPr sz="3000" b="1">
                <a:solidFill>
                  <a:srgbClr val="243A45"/>
                </a:solidFill>
                <a:latin typeface="Arial"/>
                <a:ea typeface="Arial"/>
                <a:cs typeface="Arial"/>
              </a:defRPr>
            </a:lvl5pPr>
            <a:lvl6pPr>
              <a:defRPr sz="3000" b="1">
                <a:solidFill>
                  <a:srgbClr val="243A45"/>
                </a:solidFill>
                <a:latin typeface="Arial"/>
                <a:ea typeface="Arial"/>
                <a:cs typeface="Arial"/>
              </a:defRPr>
            </a:lvl6pPr>
            <a:lvl7pPr>
              <a:defRPr sz="3000" b="1">
                <a:solidFill>
                  <a:srgbClr val="243A45"/>
                </a:solidFill>
                <a:latin typeface="Arial"/>
                <a:ea typeface="Arial"/>
                <a:cs typeface="Arial"/>
              </a:defRPr>
            </a:lvl7pPr>
            <a:lvl8pPr>
              <a:defRPr sz="3000" b="1">
                <a:solidFill>
                  <a:srgbClr val="243A45"/>
                </a:solidFill>
                <a:latin typeface="Arial"/>
                <a:ea typeface="Arial"/>
                <a:cs typeface="Arial"/>
              </a:defRPr>
            </a:lvl8pPr>
            <a:lvl9pPr>
              <a:defRPr sz="3000" b="1">
                <a:solidFill>
                  <a:srgbClr val="243A45"/>
                </a:solidFill>
                <a:latin typeface="Arial"/>
                <a:ea typeface="Arial"/>
                <a:cs typeface="Arial"/>
              </a:defRPr>
            </a:lvl9pPr>
          </a:lstStyle>
          <a:p xmlns:a="http://schemas.openxmlformats.org/drawingml/2006/main">
            <a:pPr>
              <a:defRPr sz="3000" b="1">
                <a:solidFill>
                  <a:srgbClr val="243A45"/>
                </a:solidFill>
                <a:latin typeface="Arial"/>
                <a:ea typeface="Arial"/>
                <a:cs typeface="Arial"/>
              </a:defRPr>
            </a:pPr>
            <a:r>
              <a:rPr sz="3000" b="1">
                <a:solidFill>
                  <a:srgbClr val="243A45"/>
                </a:solidFill>
                <a:latin typeface="Arial"/>
                <a:ea typeface="Arial"/>
                <a:cs typeface="Arial"/>
              </a:rPr>
              <a:t>“Your parcel is on hold.</a:t>
            </a:r>
          </a:p>
          <a:p xmlns:a="http://schemas.openxmlformats.org/drawingml/2006/main">
            <a:pPr>
              <a:defRPr sz="3000" b="1">
                <a:solidFill>
                  <a:srgbClr val="243A45"/>
                </a:solidFill>
                <a:latin typeface="Arial"/>
                <a:ea typeface="Arial"/>
                <a:cs typeface="Arial"/>
              </a:defRPr>
            </a:pPr>
            <a:r>
              <a:rPr sz="3000" b="1">
                <a:solidFill>
                  <a:srgbClr val="243A45"/>
                </a:solidFill>
                <a:latin typeface="Arial"/>
                <a:ea typeface="Arial"/>
                <a:cs typeface="Arial"/>
              </a:rPr>
              <a:t>Pay the small delivery fee</a:t>
            </a:r>
          </a:p>
          <a:p xmlns:a="http://schemas.openxmlformats.org/drawingml/2006/main">
            <a:pPr>
              <a:defRPr sz="3000" b="1">
                <a:solidFill>
                  <a:srgbClr val="243A45"/>
                </a:solidFill>
                <a:latin typeface="Arial"/>
                <a:ea typeface="Arial"/>
                <a:cs typeface="Arial"/>
              </a:defRPr>
            </a:pPr>
            <a:r>
              <a:rPr sz="3000" b="1">
                <a:solidFill>
                  <a:srgbClr val="243A45"/>
                </a:solidFill>
                <a:latin typeface="Arial"/>
                <a:ea typeface="Arial"/>
                <a:cs typeface="Arial"/>
              </a:rPr>
              <a:t>to receive it today.”</a:t>
            </a:r>
          </a:p>
        </p:txBody>
      </p:sp>
      <p:sp>
        <p:nvSpPr>
          <p:cNvPr id="5" name="">
            <a:extLst xmlns:a="http://schemas.openxmlformats.org/drawingml/2006/main">
              <a:ext uri="{FF2B5EF4-FFF2-40B4-BE49-F238E27FC236}">
                <a16:creationId xmlns:a16="http://schemas.microsoft.com/office/drawing/2014/main" id="{134E69DE-90A9-400D-BBAC-892490333631}"/>
              </a:ext>
            </a:extLst>
          </p:cNvPr>
          <p:cNvSpPr>
            <a:spLocks xmlns:a="http://schemas.openxmlformats.org/drawingml/2006/main" noGrp="1"/>
          </p:cNvSpPr>
          <p:nvPr/>
        </p:nvSpPr>
        <p:spPr>
          <a:xfrm xmlns:a="http://schemas.openxmlformats.org/drawingml/2006/main">
            <a:off x="685800" y="333375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86772"/>
                </a:solidFill>
                <a:latin typeface="Arial"/>
                <a:ea typeface="Arial"/>
                <a:cs typeface="Arial"/>
              </a:defRPr>
            </a:defPPr>
            <a:lvl1pPr>
              <a:defRPr sz="2100" b="0">
                <a:solidFill>
                  <a:srgbClr val="586772"/>
                </a:solidFill>
                <a:latin typeface="Arial"/>
                <a:ea typeface="Arial"/>
                <a:cs typeface="Arial"/>
              </a:defRPr>
            </a:lvl1pPr>
            <a:lvl2pPr>
              <a:defRPr sz="2100" b="0">
                <a:solidFill>
                  <a:srgbClr val="586772"/>
                </a:solidFill>
                <a:latin typeface="Arial"/>
                <a:ea typeface="Arial"/>
                <a:cs typeface="Arial"/>
              </a:defRPr>
            </a:lvl2pPr>
            <a:lvl3pPr>
              <a:defRPr sz="2100" b="0">
                <a:solidFill>
                  <a:srgbClr val="586772"/>
                </a:solidFill>
                <a:latin typeface="Arial"/>
                <a:ea typeface="Arial"/>
                <a:cs typeface="Arial"/>
              </a:defRPr>
            </a:lvl3pPr>
            <a:lvl4pPr>
              <a:defRPr sz="2100" b="0">
                <a:solidFill>
                  <a:srgbClr val="586772"/>
                </a:solidFill>
                <a:latin typeface="Arial"/>
                <a:ea typeface="Arial"/>
                <a:cs typeface="Arial"/>
              </a:defRPr>
            </a:lvl4pPr>
            <a:lvl5pPr>
              <a:defRPr sz="2100" b="0">
                <a:solidFill>
                  <a:srgbClr val="586772"/>
                </a:solidFill>
                <a:latin typeface="Arial"/>
                <a:ea typeface="Arial"/>
                <a:cs typeface="Arial"/>
              </a:defRPr>
            </a:lvl5pPr>
            <a:lvl6pPr>
              <a:defRPr sz="2100" b="0">
                <a:solidFill>
                  <a:srgbClr val="586772"/>
                </a:solidFill>
                <a:latin typeface="Arial"/>
                <a:ea typeface="Arial"/>
                <a:cs typeface="Arial"/>
              </a:defRPr>
            </a:lvl6pPr>
            <a:lvl7pPr>
              <a:defRPr sz="2100" b="0">
                <a:solidFill>
                  <a:srgbClr val="586772"/>
                </a:solidFill>
                <a:latin typeface="Arial"/>
                <a:ea typeface="Arial"/>
                <a:cs typeface="Arial"/>
              </a:defRPr>
            </a:lvl7pPr>
            <a:lvl8pPr>
              <a:defRPr sz="2100" b="0">
                <a:solidFill>
                  <a:srgbClr val="586772"/>
                </a:solidFill>
                <a:latin typeface="Arial"/>
                <a:ea typeface="Arial"/>
                <a:cs typeface="Arial"/>
              </a:defRPr>
            </a:lvl8pPr>
            <a:lvl9pPr>
              <a:defRPr sz="2100" b="0">
                <a:solidFill>
                  <a:srgbClr val="586772"/>
                </a:solidFill>
                <a:latin typeface="Arial"/>
                <a:ea typeface="Arial"/>
                <a:cs typeface="Arial"/>
              </a:defRPr>
            </a:lvl9pPr>
          </a:lstStyle>
          <a:p xmlns:a="http://schemas.openxmlformats.org/drawingml/2006/main">
            <a:pPr>
              <a:defRPr sz="2100" b="0">
                <a:solidFill>
                  <a:srgbClr val="586772"/>
                </a:solidFill>
                <a:latin typeface="Arial"/>
                <a:ea typeface="Arial"/>
                <a:cs typeface="Arial"/>
              </a:defRPr>
            </a:pPr>
            <a:r>
              <a:rPr sz="2100" b="0">
                <a:solidFill>
                  <a:srgbClr val="586772"/>
                </a:solidFill>
                <a:latin typeface="Arial"/>
                <a:ea typeface="Arial"/>
                <a:cs typeface="Arial"/>
              </a:rPr>
              <a:t>You are expecting a delivery.</a:t>
            </a:r>
          </a:p>
          <a:p xmlns:a="http://schemas.openxmlformats.org/drawingml/2006/main">
            <a:pPr>
              <a:defRPr sz="2100" b="0">
                <a:solidFill>
                  <a:srgbClr val="586772"/>
                </a:solidFill>
                <a:latin typeface="Arial"/>
                <a:ea typeface="Arial"/>
                <a:cs typeface="Arial"/>
              </a:defRPr>
            </a:pPr>
            <a:r>
              <a:rPr sz="2100" b="0">
                <a:solidFill>
                  <a:srgbClr val="586772"/>
                </a:solidFill>
                <a:latin typeface="Arial"/>
                <a:ea typeface="Arial"/>
                <a:cs typeface="Arial"/>
              </a:rPr>
              <a:t>The message arrives at the right moment.</a:t>
            </a:r>
          </a:p>
        </p:txBody>
      </p:sp>
    </p:spTree>
    <p:extLst>
      <p:ext uri="{BB962C8B-B14F-4D97-AF65-F5344CB8AC3E}">
        <p14:creationId xmlns:p14="http://schemas.microsoft.com/office/powerpoint/2010/main" val="4837290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1CCDEB2-7ACB-4613-A952-5EA1A80EADA3}"/>
              </a:ext>
            </a:extLst>
          </p:cNvPr>
          <p:cNvPicPr>
            <a:picLocks xmlns:a="http://schemas.openxmlformats.org/drawingml/2006/main" noChangeAspect="1"/>
          </p:cNvPicPr>
          <p:nvPr/>
        </p:nvPicPr>
        <p:blipFill>
          <a:blip xmlns:r="http://schemas.openxmlformats.org/officeDocument/2006/relationships" xmlns:a="http://schemas.openxmlformats.org/drawingml/2006/main" r:embed="R7320ab855f334d33"/>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5F66921-70E9-4349-8269-D241ADA74219}"/>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The scale of the problem</a:t>
            </a:r>
          </a:p>
        </p:txBody>
      </p:sp>
      <p:sp>
        <p:nvSpPr>
          <p:cNvPr id="3" name="">
            <a:extLst xmlns:a="http://schemas.openxmlformats.org/drawingml/2006/main">
              <a:ext uri="{FF2B5EF4-FFF2-40B4-BE49-F238E27FC236}">
                <a16:creationId xmlns:a16="http://schemas.microsoft.com/office/drawing/2014/main" id="{E656E083-49D4-4AF3-B4DC-4213BE197A27}"/>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CE6B7A5-24A0-49B7-A534-B15C9210696C}"/>
              </a:ext>
            </a:extLst>
          </p:cNvPr>
          <p:cNvSpPr>
            <a:spLocks xmlns:a="http://schemas.openxmlformats.org/drawingml/2006/main" noGrp="1"/>
          </p:cNvSpPr>
          <p:nvPr/>
        </p:nvSpPr>
        <p:spPr>
          <a:xfrm xmlns:a="http://schemas.openxmlformats.org/drawingml/2006/main">
            <a:off x="619125" y="140970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079E8C"/>
                </a:solidFill>
                <a:latin typeface="Arial"/>
                <a:ea typeface="Arial"/>
                <a:cs typeface="Arial"/>
              </a:defRPr>
            </a:defPPr>
            <a:lvl1pPr>
              <a:defRPr sz="4800" b="1">
                <a:solidFill>
                  <a:srgbClr val="079E8C"/>
                </a:solidFill>
                <a:latin typeface="Arial"/>
                <a:ea typeface="Arial"/>
                <a:cs typeface="Arial"/>
              </a:defRPr>
            </a:lvl1pPr>
            <a:lvl2pPr>
              <a:defRPr sz="4800" b="1">
                <a:solidFill>
                  <a:srgbClr val="079E8C"/>
                </a:solidFill>
                <a:latin typeface="Arial"/>
                <a:ea typeface="Arial"/>
                <a:cs typeface="Arial"/>
              </a:defRPr>
            </a:lvl2pPr>
            <a:lvl3pPr>
              <a:defRPr sz="4800" b="1">
                <a:solidFill>
                  <a:srgbClr val="079E8C"/>
                </a:solidFill>
                <a:latin typeface="Arial"/>
                <a:ea typeface="Arial"/>
                <a:cs typeface="Arial"/>
              </a:defRPr>
            </a:lvl3pPr>
            <a:lvl4pPr>
              <a:defRPr sz="4800" b="1">
                <a:solidFill>
                  <a:srgbClr val="079E8C"/>
                </a:solidFill>
                <a:latin typeface="Arial"/>
                <a:ea typeface="Arial"/>
                <a:cs typeface="Arial"/>
              </a:defRPr>
            </a:lvl4pPr>
            <a:lvl5pPr>
              <a:defRPr sz="4800" b="1">
                <a:solidFill>
                  <a:srgbClr val="079E8C"/>
                </a:solidFill>
                <a:latin typeface="Arial"/>
                <a:ea typeface="Arial"/>
                <a:cs typeface="Arial"/>
              </a:defRPr>
            </a:lvl5pPr>
            <a:lvl6pPr>
              <a:defRPr sz="4800" b="1">
                <a:solidFill>
                  <a:srgbClr val="079E8C"/>
                </a:solidFill>
                <a:latin typeface="Arial"/>
                <a:ea typeface="Arial"/>
                <a:cs typeface="Arial"/>
              </a:defRPr>
            </a:lvl6pPr>
            <a:lvl7pPr>
              <a:defRPr sz="4800" b="1">
                <a:solidFill>
                  <a:srgbClr val="079E8C"/>
                </a:solidFill>
                <a:latin typeface="Arial"/>
                <a:ea typeface="Arial"/>
                <a:cs typeface="Arial"/>
              </a:defRPr>
            </a:lvl7pPr>
            <a:lvl8pPr>
              <a:defRPr sz="4800" b="1">
                <a:solidFill>
                  <a:srgbClr val="079E8C"/>
                </a:solidFill>
                <a:latin typeface="Arial"/>
                <a:ea typeface="Arial"/>
                <a:cs typeface="Arial"/>
              </a:defRPr>
            </a:lvl8pPr>
            <a:lvl9pPr>
              <a:defRPr sz="4800" b="1">
                <a:solidFill>
                  <a:srgbClr val="079E8C"/>
                </a:solidFill>
                <a:latin typeface="Arial"/>
                <a:ea typeface="Arial"/>
                <a:cs typeface="Arial"/>
              </a:defRPr>
            </a:lvl9pPr>
          </a:lstStyle>
          <a:p xmlns:a="http://schemas.openxmlformats.org/drawingml/2006/main">
            <a:pPr>
              <a:defRPr sz="4800" b="1">
                <a:solidFill>
                  <a:srgbClr val="079E8C"/>
                </a:solidFill>
                <a:latin typeface="Arial"/>
                <a:ea typeface="Arial"/>
                <a:cs typeface="Arial"/>
              </a:defRPr>
            </a:pPr>
            <a:r>
              <a:rPr sz="4800" b="1">
                <a:solidFill>
                  <a:srgbClr val="079E8C"/>
                </a:solidFill>
                <a:latin typeface="Arial"/>
                <a:ea typeface="Arial"/>
                <a:cs typeface="Arial"/>
              </a:rPr>
              <a:t>3.8 million</a:t>
            </a:r>
          </a:p>
        </p:txBody>
      </p:sp>
      <p:sp>
        <p:nvSpPr>
          <p:cNvPr id="5" name="">
            <a:extLst xmlns:a="http://schemas.openxmlformats.org/drawingml/2006/main">
              <a:ext uri="{FF2B5EF4-FFF2-40B4-BE49-F238E27FC236}">
                <a16:creationId xmlns:a16="http://schemas.microsoft.com/office/drawing/2014/main" id="{D8F199DF-2CE4-4CD3-A217-45C94D4FBD6A}"/>
              </a:ext>
            </a:extLst>
          </p:cNvPr>
          <p:cNvSpPr>
            <a:spLocks xmlns:a="http://schemas.openxmlformats.org/drawingml/2006/main" noGrp="1"/>
          </p:cNvSpPr>
          <p:nvPr/>
        </p:nvSpPr>
        <p:spPr>
          <a:xfrm xmlns:a="http://schemas.openxmlformats.org/drawingml/2006/main">
            <a:off x="647700" y="238125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43A45"/>
                </a:solidFill>
                <a:latin typeface="Arial"/>
                <a:ea typeface="Arial"/>
                <a:cs typeface="Arial"/>
              </a:defRPr>
            </a:defPPr>
            <a:lvl1pPr>
              <a:defRPr sz="2025" b="0">
                <a:solidFill>
                  <a:srgbClr val="243A45"/>
                </a:solidFill>
                <a:latin typeface="Arial"/>
                <a:ea typeface="Arial"/>
                <a:cs typeface="Arial"/>
              </a:defRPr>
            </a:lvl1pPr>
            <a:lvl2pPr>
              <a:defRPr sz="2025" b="0">
                <a:solidFill>
                  <a:srgbClr val="243A45"/>
                </a:solidFill>
                <a:latin typeface="Arial"/>
                <a:ea typeface="Arial"/>
                <a:cs typeface="Arial"/>
              </a:defRPr>
            </a:lvl2pPr>
            <a:lvl3pPr>
              <a:defRPr sz="2025" b="0">
                <a:solidFill>
                  <a:srgbClr val="243A45"/>
                </a:solidFill>
                <a:latin typeface="Arial"/>
                <a:ea typeface="Arial"/>
                <a:cs typeface="Arial"/>
              </a:defRPr>
            </a:lvl3pPr>
            <a:lvl4pPr>
              <a:defRPr sz="2025" b="0">
                <a:solidFill>
                  <a:srgbClr val="243A45"/>
                </a:solidFill>
                <a:latin typeface="Arial"/>
                <a:ea typeface="Arial"/>
                <a:cs typeface="Arial"/>
              </a:defRPr>
            </a:lvl4pPr>
            <a:lvl5pPr>
              <a:defRPr sz="2025" b="0">
                <a:solidFill>
                  <a:srgbClr val="243A45"/>
                </a:solidFill>
                <a:latin typeface="Arial"/>
                <a:ea typeface="Arial"/>
                <a:cs typeface="Arial"/>
              </a:defRPr>
            </a:lvl5pPr>
            <a:lvl6pPr>
              <a:defRPr sz="2025" b="0">
                <a:solidFill>
                  <a:srgbClr val="243A45"/>
                </a:solidFill>
                <a:latin typeface="Arial"/>
                <a:ea typeface="Arial"/>
                <a:cs typeface="Arial"/>
              </a:defRPr>
            </a:lvl6pPr>
            <a:lvl7pPr>
              <a:defRPr sz="2025" b="0">
                <a:solidFill>
                  <a:srgbClr val="243A45"/>
                </a:solidFill>
                <a:latin typeface="Arial"/>
                <a:ea typeface="Arial"/>
                <a:cs typeface="Arial"/>
              </a:defRPr>
            </a:lvl7pPr>
            <a:lvl8pPr>
              <a:defRPr sz="2025" b="0">
                <a:solidFill>
                  <a:srgbClr val="243A45"/>
                </a:solidFill>
                <a:latin typeface="Arial"/>
                <a:ea typeface="Arial"/>
                <a:cs typeface="Arial"/>
              </a:defRPr>
            </a:lvl8pPr>
            <a:lvl9pPr>
              <a:defRPr sz="2025" b="0">
                <a:solidFill>
                  <a:srgbClr val="243A45"/>
                </a:solidFill>
                <a:latin typeface="Arial"/>
                <a:ea typeface="Arial"/>
                <a:cs typeface="Arial"/>
              </a:defRPr>
            </a:lvl9pPr>
          </a:lstStyle>
          <a:p xmlns:a="http://schemas.openxmlformats.org/drawingml/2006/main">
            <a:pPr>
              <a:defRPr sz="2025" b="0">
                <a:solidFill>
                  <a:srgbClr val="243A45"/>
                </a:solidFill>
                <a:latin typeface="Arial"/>
                <a:ea typeface="Arial"/>
                <a:cs typeface="Arial"/>
              </a:defRPr>
            </a:pPr>
            <a:r>
              <a:rPr sz="2025" b="0">
                <a:solidFill>
                  <a:srgbClr val="243A45"/>
                </a:solidFill>
                <a:latin typeface="Arial"/>
                <a:ea typeface="Arial"/>
                <a:cs typeface="Arial"/>
              </a:rPr>
              <a:t>phishing attacks observed</a:t>
            </a:r>
          </a:p>
          <a:p xmlns:a="http://schemas.openxmlformats.org/drawingml/2006/main">
            <a:pPr>
              <a:defRPr sz="2025" b="0">
                <a:solidFill>
                  <a:srgbClr val="243A45"/>
                </a:solidFill>
                <a:latin typeface="Arial"/>
                <a:ea typeface="Arial"/>
                <a:cs typeface="Arial"/>
              </a:defRPr>
            </a:pPr>
            <a:r>
              <a:rPr sz="2025" b="0">
                <a:solidFill>
                  <a:srgbClr val="243A45"/>
                </a:solidFill>
                <a:latin typeface="Arial"/>
                <a:ea typeface="Arial"/>
                <a:cs typeface="Arial"/>
              </a:rPr>
              <a:t>by APWG during 2025</a:t>
            </a:r>
          </a:p>
        </p:txBody>
      </p:sp>
      <p:sp>
        <p:nvSpPr>
          <p:cNvPr id="6" name="">
            <a:extLst xmlns:a="http://schemas.openxmlformats.org/drawingml/2006/main">
              <a:ext uri="{FF2B5EF4-FFF2-40B4-BE49-F238E27FC236}">
                <a16:creationId xmlns:a16="http://schemas.microsoft.com/office/drawing/2014/main" id="{31843892-1B45-4DFC-A391-868F0E07972D}"/>
              </a:ext>
            </a:extLst>
          </p:cNvPr>
          <p:cNvSpPr>
            <a:spLocks xmlns:a="http://schemas.openxmlformats.org/drawingml/2006/main" noGrp="1"/>
          </p:cNvSpPr>
          <p:nvPr/>
        </p:nvSpPr>
        <p:spPr>
          <a:xfrm xmlns:a="http://schemas.openxmlformats.org/drawingml/2006/main">
            <a:off x="4857750" y="1409700"/>
            <a:ext cx="3952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425" b="1">
                <a:solidFill>
                  <a:srgbClr val="079E8C"/>
                </a:solidFill>
                <a:latin typeface="Arial"/>
                <a:ea typeface="Arial"/>
                <a:cs typeface="Arial"/>
              </a:defRPr>
            </a:defPPr>
            <a:lvl1pPr>
              <a:defRPr sz="4425" b="1">
                <a:solidFill>
                  <a:srgbClr val="079E8C"/>
                </a:solidFill>
                <a:latin typeface="Arial"/>
                <a:ea typeface="Arial"/>
                <a:cs typeface="Arial"/>
              </a:defRPr>
            </a:lvl1pPr>
            <a:lvl2pPr>
              <a:defRPr sz="4425" b="1">
                <a:solidFill>
                  <a:srgbClr val="079E8C"/>
                </a:solidFill>
                <a:latin typeface="Arial"/>
                <a:ea typeface="Arial"/>
                <a:cs typeface="Arial"/>
              </a:defRPr>
            </a:lvl2pPr>
            <a:lvl3pPr>
              <a:defRPr sz="4425" b="1">
                <a:solidFill>
                  <a:srgbClr val="079E8C"/>
                </a:solidFill>
                <a:latin typeface="Arial"/>
                <a:ea typeface="Arial"/>
                <a:cs typeface="Arial"/>
              </a:defRPr>
            </a:lvl3pPr>
            <a:lvl4pPr>
              <a:defRPr sz="4425" b="1">
                <a:solidFill>
                  <a:srgbClr val="079E8C"/>
                </a:solidFill>
                <a:latin typeface="Arial"/>
                <a:ea typeface="Arial"/>
                <a:cs typeface="Arial"/>
              </a:defRPr>
            </a:lvl4pPr>
            <a:lvl5pPr>
              <a:defRPr sz="4425" b="1">
                <a:solidFill>
                  <a:srgbClr val="079E8C"/>
                </a:solidFill>
                <a:latin typeface="Arial"/>
                <a:ea typeface="Arial"/>
                <a:cs typeface="Arial"/>
              </a:defRPr>
            </a:lvl5pPr>
            <a:lvl6pPr>
              <a:defRPr sz="4425" b="1">
                <a:solidFill>
                  <a:srgbClr val="079E8C"/>
                </a:solidFill>
                <a:latin typeface="Arial"/>
                <a:ea typeface="Arial"/>
                <a:cs typeface="Arial"/>
              </a:defRPr>
            </a:lvl6pPr>
            <a:lvl7pPr>
              <a:defRPr sz="4425" b="1">
                <a:solidFill>
                  <a:srgbClr val="079E8C"/>
                </a:solidFill>
                <a:latin typeface="Arial"/>
                <a:ea typeface="Arial"/>
                <a:cs typeface="Arial"/>
              </a:defRPr>
            </a:lvl7pPr>
            <a:lvl8pPr>
              <a:defRPr sz="4425" b="1">
                <a:solidFill>
                  <a:srgbClr val="079E8C"/>
                </a:solidFill>
                <a:latin typeface="Arial"/>
                <a:ea typeface="Arial"/>
                <a:cs typeface="Arial"/>
              </a:defRPr>
            </a:lvl8pPr>
            <a:lvl9pPr>
              <a:defRPr sz="4425" b="1">
                <a:solidFill>
                  <a:srgbClr val="079E8C"/>
                </a:solidFill>
                <a:latin typeface="Arial"/>
                <a:ea typeface="Arial"/>
                <a:cs typeface="Arial"/>
              </a:defRPr>
            </a:lvl9pPr>
          </a:lstStyle>
          <a:p xmlns:a="http://schemas.openxmlformats.org/drawingml/2006/main">
            <a:pPr>
              <a:defRPr sz="4425" b="1">
                <a:solidFill>
                  <a:srgbClr val="079E8C"/>
                </a:solidFill>
                <a:latin typeface="Arial"/>
                <a:ea typeface="Arial"/>
                <a:cs typeface="Arial"/>
              </a:defRPr>
            </a:pPr>
            <a:r>
              <a:rPr sz="4425" b="1">
                <a:solidFill>
                  <a:srgbClr val="079E8C"/>
                </a:solidFill>
                <a:latin typeface="Arial"/>
                <a:ea typeface="Arial"/>
                <a:cs typeface="Arial"/>
              </a:rPr>
              <a:t>$2.77 billion</a:t>
            </a:r>
          </a:p>
        </p:txBody>
      </p:sp>
      <p:sp>
        <p:nvSpPr>
          <p:cNvPr id="7" name="">
            <a:extLst xmlns:a="http://schemas.openxmlformats.org/drawingml/2006/main">
              <a:ext uri="{FF2B5EF4-FFF2-40B4-BE49-F238E27FC236}">
                <a16:creationId xmlns:a16="http://schemas.microsoft.com/office/drawing/2014/main" id="{65E918B8-C011-4DB4-9A3D-1A4371F99421}"/>
              </a:ext>
            </a:extLst>
          </p:cNvPr>
          <p:cNvSpPr>
            <a:spLocks xmlns:a="http://schemas.openxmlformats.org/drawingml/2006/main" noGrp="1"/>
          </p:cNvSpPr>
          <p:nvPr/>
        </p:nvSpPr>
        <p:spPr>
          <a:xfrm xmlns:a="http://schemas.openxmlformats.org/drawingml/2006/main">
            <a:off x="4905375" y="238125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43A45"/>
                </a:solidFill>
                <a:latin typeface="Arial"/>
                <a:ea typeface="Arial"/>
                <a:cs typeface="Arial"/>
              </a:defRPr>
            </a:defPPr>
            <a:lvl1pPr>
              <a:defRPr sz="2025" b="0">
                <a:solidFill>
                  <a:srgbClr val="243A45"/>
                </a:solidFill>
                <a:latin typeface="Arial"/>
                <a:ea typeface="Arial"/>
                <a:cs typeface="Arial"/>
              </a:defRPr>
            </a:lvl1pPr>
            <a:lvl2pPr>
              <a:defRPr sz="2025" b="0">
                <a:solidFill>
                  <a:srgbClr val="243A45"/>
                </a:solidFill>
                <a:latin typeface="Arial"/>
                <a:ea typeface="Arial"/>
                <a:cs typeface="Arial"/>
              </a:defRPr>
            </a:lvl2pPr>
            <a:lvl3pPr>
              <a:defRPr sz="2025" b="0">
                <a:solidFill>
                  <a:srgbClr val="243A45"/>
                </a:solidFill>
                <a:latin typeface="Arial"/>
                <a:ea typeface="Arial"/>
                <a:cs typeface="Arial"/>
              </a:defRPr>
            </a:lvl3pPr>
            <a:lvl4pPr>
              <a:defRPr sz="2025" b="0">
                <a:solidFill>
                  <a:srgbClr val="243A45"/>
                </a:solidFill>
                <a:latin typeface="Arial"/>
                <a:ea typeface="Arial"/>
                <a:cs typeface="Arial"/>
              </a:defRPr>
            </a:lvl4pPr>
            <a:lvl5pPr>
              <a:defRPr sz="2025" b="0">
                <a:solidFill>
                  <a:srgbClr val="243A45"/>
                </a:solidFill>
                <a:latin typeface="Arial"/>
                <a:ea typeface="Arial"/>
                <a:cs typeface="Arial"/>
              </a:defRPr>
            </a:lvl5pPr>
            <a:lvl6pPr>
              <a:defRPr sz="2025" b="0">
                <a:solidFill>
                  <a:srgbClr val="243A45"/>
                </a:solidFill>
                <a:latin typeface="Arial"/>
                <a:ea typeface="Arial"/>
                <a:cs typeface="Arial"/>
              </a:defRPr>
            </a:lvl6pPr>
            <a:lvl7pPr>
              <a:defRPr sz="2025" b="0">
                <a:solidFill>
                  <a:srgbClr val="243A45"/>
                </a:solidFill>
                <a:latin typeface="Arial"/>
                <a:ea typeface="Arial"/>
                <a:cs typeface="Arial"/>
              </a:defRPr>
            </a:lvl7pPr>
            <a:lvl8pPr>
              <a:defRPr sz="2025" b="0">
                <a:solidFill>
                  <a:srgbClr val="243A45"/>
                </a:solidFill>
                <a:latin typeface="Arial"/>
                <a:ea typeface="Arial"/>
                <a:cs typeface="Arial"/>
              </a:defRPr>
            </a:lvl8pPr>
            <a:lvl9pPr>
              <a:defRPr sz="2025" b="0">
                <a:solidFill>
                  <a:srgbClr val="243A45"/>
                </a:solidFill>
                <a:latin typeface="Arial"/>
                <a:ea typeface="Arial"/>
                <a:cs typeface="Arial"/>
              </a:defRPr>
            </a:lvl9pPr>
          </a:lstStyle>
          <a:p xmlns:a="http://schemas.openxmlformats.org/drawingml/2006/main">
            <a:pPr>
              <a:defRPr sz="2025" b="0">
                <a:solidFill>
                  <a:srgbClr val="243A45"/>
                </a:solidFill>
                <a:latin typeface="Arial"/>
                <a:ea typeface="Arial"/>
                <a:cs typeface="Arial"/>
              </a:defRPr>
            </a:pPr>
            <a:r>
              <a:rPr sz="2025" b="0">
                <a:solidFill>
                  <a:srgbClr val="243A45"/>
                </a:solidFill>
                <a:latin typeface="Arial"/>
                <a:ea typeface="Arial"/>
                <a:cs typeface="Arial"/>
              </a:rPr>
              <a:t>reported losses from business</a:t>
            </a:r>
          </a:p>
          <a:p xmlns:a="http://schemas.openxmlformats.org/drawingml/2006/main">
            <a:pPr>
              <a:defRPr sz="2025" b="0">
                <a:solidFill>
                  <a:srgbClr val="243A45"/>
                </a:solidFill>
                <a:latin typeface="Arial"/>
                <a:ea typeface="Arial"/>
                <a:cs typeface="Arial"/>
              </a:defRPr>
            </a:pPr>
            <a:r>
              <a:rPr sz="2025" b="0">
                <a:solidFill>
                  <a:srgbClr val="243A45"/>
                </a:solidFill>
                <a:latin typeface="Arial"/>
                <a:ea typeface="Arial"/>
                <a:cs typeface="Arial"/>
              </a:rPr>
              <a:t>email scams in 2024</a:t>
            </a:r>
          </a:p>
        </p:txBody>
      </p:sp>
      <p:sp>
        <p:nvSpPr>
          <p:cNvPr id="8" name="">
            <a:extLst xmlns:a="http://schemas.openxmlformats.org/drawingml/2006/main">
              <a:ext uri="{FF2B5EF4-FFF2-40B4-BE49-F238E27FC236}">
                <a16:creationId xmlns:a16="http://schemas.microsoft.com/office/drawing/2014/main" id="{4F1C526C-3C71-4AD8-AB76-0C0C5E626BB5}"/>
              </a:ext>
            </a:extLst>
          </p:cNvPr>
          <p:cNvSpPr>
            <a:spLocks xmlns:a="http://schemas.openxmlformats.org/drawingml/2006/main" noGrp="1"/>
          </p:cNvSpPr>
          <p:nvPr/>
        </p:nvSpPr>
        <p:spPr>
          <a:xfrm xmlns:a="http://schemas.openxmlformats.org/drawingml/2006/main">
            <a:off x="647700" y="3667125"/>
            <a:ext cx="766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86772"/>
                </a:solidFill>
                <a:latin typeface="Arial"/>
                <a:ea typeface="Arial"/>
                <a:cs typeface="Arial"/>
              </a:defRPr>
            </a:defPPr>
            <a:lvl1pPr>
              <a:defRPr sz="2025" b="0">
                <a:solidFill>
                  <a:srgbClr val="586772"/>
                </a:solidFill>
                <a:latin typeface="Arial"/>
                <a:ea typeface="Arial"/>
                <a:cs typeface="Arial"/>
              </a:defRPr>
            </a:lvl1pPr>
            <a:lvl2pPr>
              <a:defRPr sz="2025" b="0">
                <a:solidFill>
                  <a:srgbClr val="586772"/>
                </a:solidFill>
                <a:latin typeface="Arial"/>
                <a:ea typeface="Arial"/>
                <a:cs typeface="Arial"/>
              </a:defRPr>
            </a:lvl2pPr>
            <a:lvl3pPr>
              <a:defRPr sz="2025" b="0">
                <a:solidFill>
                  <a:srgbClr val="586772"/>
                </a:solidFill>
                <a:latin typeface="Arial"/>
                <a:ea typeface="Arial"/>
                <a:cs typeface="Arial"/>
              </a:defRPr>
            </a:lvl3pPr>
            <a:lvl4pPr>
              <a:defRPr sz="2025" b="0">
                <a:solidFill>
                  <a:srgbClr val="586772"/>
                </a:solidFill>
                <a:latin typeface="Arial"/>
                <a:ea typeface="Arial"/>
                <a:cs typeface="Arial"/>
              </a:defRPr>
            </a:lvl4pPr>
            <a:lvl5pPr>
              <a:defRPr sz="2025" b="0">
                <a:solidFill>
                  <a:srgbClr val="586772"/>
                </a:solidFill>
                <a:latin typeface="Arial"/>
                <a:ea typeface="Arial"/>
                <a:cs typeface="Arial"/>
              </a:defRPr>
            </a:lvl5pPr>
            <a:lvl6pPr>
              <a:defRPr sz="2025" b="0">
                <a:solidFill>
                  <a:srgbClr val="586772"/>
                </a:solidFill>
                <a:latin typeface="Arial"/>
                <a:ea typeface="Arial"/>
                <a:cs typeface="Arial"/>
              </a:defRPr>
            </a:lvl6pPr>
            <a:lvl7pPr>
              <a:defRPr sz="2025" b="0">
                <a:solidFill>
                  <a:srgbClr val="586772"/>
                </a:solidFill>
                <a:latin typeface="Arial"/>
                <a:ea typeface="Arial"/>
                <a:cs typeface="Arial"/>
              </a:defRPr>
            </a:lvl7pPr>
            <a:lvl8pPr>
              <a:defRPr sz="2025" b="0">
                <a:solidFill>
                  <a:srgbClr val="586772"/>
                </a:solidFill>
                <a:latin typeface="Arial"/>
                <a:ea typeface="Arial"/>
                <a:cs typeface="Arial"/>
              </a:defRPr>
            </a:lvl8pPr>
            <a:lvl9pPr>
              <a:defRPr sz="2025" b="0">
                <a:solidFill>
                  <a:srgbClr val="586772"/>
                </a:solidFill>
                <a:latin typeface="Arial"/>
                <a:ea typeface="Arial"/>
                <a:cs typeface="Arial"/>
              </a:defRPr>
            </a:lvl9pPr>
          </a:lstStyle>
          <a:p xmlns:a="http://schemas.openxmlformats.org/drawingml/2006/main">
            <a:pPr>
              <a:defRPr sz="2025" b="0">
                <a:solidFill>
                  <a:srgbClr val="586772"/>
                </a:solidFill>
                <a:latin typeface="Arial"/>
                <a:ea typeface="Arial"/>
                <a:cs typeface="Arial"/>
              </a:defRPr>
            </a:pPr>
            <a:r>
              <a:rPr sz="2025" b="0">
                <a:solidFill>
                  <a:srgbClr val="586772"/>
                </a:solidFill>
                <a:latin typeface="Arial"/>
                <a:ea typeface="Arial"/>
                <a:cs typeface="Arial"/>
              </a:rPr>
              <a:t>A believable request can put money and personal details at risk.</a:t>
            </a:r>
          </a:p>
        </p:txBody>
      </p:sp>
      <p:sp>
        <p:nvSpPr>
          <p:cNvPr id="9" name="">
            <a:extLst xmlns:a="http://schemas.openxmlformats.org/drawingml/2006/main">
              <a:ext uri="{FF2B5EF4-FFF2-40B4-BE49-F238E27FC236}">
                <a16:creationId xmlns:a16="http://schemas.microsoft.com/office/drawing/2014/main" id="{B41D098C-DD7F-4620-AFD1-78BE601C9AA7}"/>
              </a:ext>
            </a:extLst>
          </p:cNvPr>
          <p:cNvSpPr>
            <a:spLocks xmlns:a="http://schemas.openxmlformats.org/drawingml/2006/main" noGrp="1"/>
          </p:cNvSpPr>
          <p:nvPr/>
        </p:nvSpPr>
        <p:spPr>
          <a:xfrm xmlns:a="http://schemas.openxmlformats.org/drawingml/2006/main">
            <a:off x="647700" y="44100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86772"/>
                </a:solidFill>
                <a:latin typeface="Arial"/>
                <a:ea typeface="Arial"/>
                <a:cs typeface="Arial"/>
              </a:defRPr>
            </a:defPPr>
            <a:lvl1pPr>
              <a:defRPr sz="1200" b="0">
                <a:solidFill>
                  <a:srgbClr val="586772"/>
                </a:solidFill>
                <a:latin typeface="Arial"/>
                <a:ea typeface="Arial"/>
                <a:cs typeface="Arial"/>
              </a:defRPr>
            </a:lvl1pPr>
            <a:lvl2pPr>
              <a:defRPr sz="1200" b="0">
                <a:solidFill>
                  <a:srgbClr val="586772"/>
                </a:solidFill>
                <a:latin typeface="Arial"/>
                <a:ea typeface="Arial"/>
                <a:cs typeface="Arial"/>
              </a:defRPr>
            </a:lvl2pPr>
            <a:lvl3pPr>
              <a:defRPr sz="1200" b="0">
                <a:solidFill>
                  <a:srgbClr val="586772"/>
                </a:solidFill>
                <a:latin typeface="Arial"/>
                <a:ea typeface="Arial"/>
                <a:cs typeface="Arial"/>
              </a:defRPr>
            </a:lvl3pPr>
            <a:lvl4pPr>
              <a:defRPr sz="1200" b="0">
                <a:solidFill>
                  <a:srgbClr val="586772"/>
                </a:solidFill>
                <a:latin typeface="Arial"/>
                <a:ea typeface="Arial"/>
                <a:cs typeface="Arial"/>
              </a:defRPr>
            </a:lvl4pPr>
            <a:lvl5pPr>
              <a:defRPr sz="1200" b="0">
                <a:solidFill>
                  <a:srgbClr val="586772"/>
                </a:solidFill>
                <a:latin typeface="Arial"/>
                <a:ea typeface="Arial"/>
                <a:cs typeface="Arial"/>
              </a:defRPr>
            </a:lvl5pPr>
            <a:lvl6pPr>
              <a:defRPr sz="1200" b="0">
                <a:solidFill>
                  <a:srgbClr val="586772"/>
                </a:solidFill>
                <a:latin typeface="Arial"/>
                <a:ea typeface="Arial"/>
                <a:cs typeface="Arial"/>
              </a:defRPr>
            </a:lvl6pPr>
            <a:lvl7pPr>
              <a:defRPr sz="1200" b="0">
                <a:solidFill>
                  <a:srgbClr val="586772"/>
                </a:solidFill>
                <a:latin typeface="Arial"/>
                <a:ea typeface="Arial"/>
                <a:cs typeface="Arial"/>
              </a:defRPr>
            </a:lvl7pPr>
            <a:lvl8pPr>
              <a:defRPr sz="1200" b="0">
                <a:solidFill>
                  <a:srgbClr val="586772"/>
                </a:solidFill>
                <a:latin typeface="Arial"/>
                <a:ea typeface="Arial"/>
                <a:cs typeface="Arial"/>
              </a:defRPr>
            </a:lvl8pPr>
            <a:lvl9pPr>
              <a:defRPr sz="1200" b="0">
                <a:solidFill>
                  <a:srgbClr val="586772"/>
                </a:solidFill>
                <a:latin typeface="Arial"/>
                <a:ea typeface="Arial"/>
                <a:cs typeface="Arial"/>
              </a:defRPr>
            </a:lvl9pPr>
          </a:lstStyle>
          <a:p xmlns:a="http://schemas.openxmlformats.org/drawingml/2006/main">
            <a:pPr>
              <a:defRPr sz="1200" b="0">
                <a:solidFill>
                  <a:srgbClr val="586772"/>
                </a:solidFill>
                <a:latin typeface="Arial"/>
                <a:ea typeface="Arial"/>
                <a:cs typeface="Arial"/>
              </a:defRPr>
            </a:pPr>
            <a:r>
              <a:rPr sz="1200" b="0">
                <a:solidFill>
                  <a:srgbClr val="586772"/>
                </a:solidFill>
                <a:latin typeface="Arial"/>
                <a:ea typeface="Arial"/>
                <a:cs typeface="Arial"/>
              </a:rPr>
              <a:t>Sources: APWG Q4 2025 report and FBI IC3 2024 report</a:t>
            </a:r>
          </a:p>
        </p:txBody>
      </p:sp>
    </p:spTree>
    <p:extLst>
      <p:ext uri="{BB962C8B-B14F-4D97-AF65-F5344CB8AC3E}">
        <p14:creationId xmlns:p14="http://schemas.microsoft.com/office/powerpoint/2010/main" val="17246212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401013C-7565-42E1-A9E5-4CA17447CB5B}"/>
              </a:ext>
            </a:extLst>
          </p:cNvPr>
          <p:cNvPicPr>
            <a:picLocks xmlns:a="http://schemas.openxmlformats.org/drawingml/2006/main" noChangeAspect="1"/>
          </p:cNvPicPr>
          <p:nvPr/>
        </p:nvPicPr>
        <p:blipFill>
          <a:blip xmlns:r="http://schemas.openxmlformats.org/officeDocument/2006/relationships" xmlns:a="http://schemas.openxmlformats.org/drawingml/2006/main" r:embed="Rbcaed74e3ef24e55"/>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A91792F-9E0E-4655-B310-EE13A924DFF1}"/>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Who Maso is for</a:t>
            </a:r>
          </a:p>
        </p:txBody>
      </p:sp>
      <p:sp>
        <p:nvSpPr>
          <p:cNvPr id="3" name="">
            <a:extLst xmlns:a="http://schemas.openxmlformats.org/drawingml/2006/main">
              <a:ext uri="{FF2B5EF4-FFF2-40B4-BE49-F238E27FC236}">
                <a16:creationId xmlns:a16="http://schemas.microsoft.com/office/drawing/2014/main" id="{90F354F3-545C-4402-BA3B-E471604BBDA2}"/>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3D8403AB-CF63-43BE-9963-C48D6385A270}"/>
              </a:ext>
            </a:extLst>
          </p:cNvPr>
          <p:cNvSpPr>
            <a:spLocks xmlns:a="http://schemas.openxmlformats.org/drawingml/2006/main" noGrp="1"/>
          </p:cNvSpPr>
          <p:nvPr/>
        </p:nvSpPr>
        <p:spPr>
          <a:xfrm xmlns:a="http://schemas.openxmlformats.org/drawingml/2006/main">
            <a:off x="590550" y="121920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494AEB9-7086-4D8D-9FF8-209788F300CC}"/>
              </a:ext>
            </a:extLst>
          </p:cNvPr>
          <p:cNvSpPr>
            <a:spLocks xmlns:a="http://schemas.openxmlformats.org/drawingml/2006/main" noGrp="1"/>
          </p:cNvSpPr>
          <p:nvPr/>
        </p:nvSpPr>
        <p:spPr>
          <a:xfrm xmlns:a="http://schemas.openxmlformats.org/drawingml/2006/main">
            <a:off x="1190625" y="121920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Everyday people</a:t>
            </a:r>
          </a:p>
        </p:txBody>
      </p:sp>
      <p:sp>
        <p:nvSpPr>
          <p:cNvPr id="6" name="">
            <a:extLst xmlns:a="http://schemas.openxmlformats.org/drawingml/2006/main">
              <a:ext uri="{FF2B5EF4-FFF2-40B4-BE49-F238E27FC236}">
                <a16:creationId xmlns:a16="http://schemas.microsoft.com/office/drawing/2014/main" id="{E05D0A4E-74CA-4604-8F40-1CA43FA640CD}"/>
              </a:ext>
            </a:extLst>
          </p:cNvPr>
          <p:cNvSpPr>
            <a:spLocks xmlns:a="http://schemas.openxmlformats.org/drawingml/2006/main" noGrp="1"/>
          </p:cNvSpPr>
          <p:nvPr/>
        </p:nvSpPr>
        <p:spPr>
          <a:xfrm xmlns:a="http://schemas.openxmlformats.org/drawingml/2006/main">
            <a:off x="1190625" y="160020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Delivery texts, account alerts and unexpected payment requests</a:t>
            </a:r>
          </a:p>
        </p:txBody>
      </p:sp>
      <p:sp>
        <p:nvSpPr>
          <p:cNvPr id="7" name="">
            <a:extLst xmlns:a="http://schemas.openxmlformats.org/drawingml/2006/main">
              <a:ext uri="{FF2B5EF4-FFF2-40B4-BE49-F238E27FC236}">
                <a16:creationId xmlns:a16="http://schemas.microsoft.com/office/drawing/2014/main" id="{4CBB7D63-4EAB-406B-8707-1E40558E0280}"/>
              </a:ext>
            </a:extLst>
          </p:cNvPr>
          <p:cNvSpPr>
            <a:spLocks xmlns:a="http://schemas.openxmlformats.org/drawingml/2006/main" noGrp="1"/>
          </p:cNvSpPr>
          <p:nvPr/>
        </p:nvSpPr>
        <p:spPr>
          <a:xfrm xmlns:a="http://schemas.openxmlformats.org/drawingml/2006/main">
            <a:off x="590550" y="228600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AF6B53B-EF07-4761-A963-5D175DA8294B}"/>
              </a:ext>
            </a:extLst>
          </p:cNvPr>
          <p:cNvSpPr>
            <a:spLocks xmlns:a="http://schemas.openxmlformats.org/drawingml/2006/main" noGrp="1"/>
          </p:cNvSpPr>
          <p:nvPr/>
        </p:nvSpPr>
        <p:spPr>
          <a:xfrm xmlns:a="http://schemas.openxmlformats.org/drawingml/2006/main">
            <a:off x="1190625" y="228600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Students and families</a:t>
            </a:r>
          </a:p>
        </p:txBody>
      </p:sp>
      <p:sp>
        <p:nvSpPr>
          <p:cNvPr id="9" name="">
            <a:extLst xmlns:a="http://schemas.openxmlformats.org/drawingml/2006/main">
              <a:ext uri="{FF2B5EF4-FFF2-40B4-BE49-F238E27FC236}">
                <a16:creationId xmlns:a16="http://schemas.microsoft.com/office/drawing/2014/main" id="{26CBE79E-3172-4FFF-82ED-D45A7CD3636A}"/>
              </a:ext>
            </a:extLst>
          </p:cNvPr>
          <p:cNvSpPr>
            <a:spLocks xmlns:a="http://schemas.openxmlformats.org/drawingml/2006/main" noGrp="1"/>
          </p:cNvSpPr>
          <p:nvPr/>
        </p:nvSpPr>
        <p:spPr>
          <a:xfrm xmlns:a="http://schemas.openxmlformats.org/drawingml/2006/main">
            <a:off x="1190625" y="266700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Shared links and QR codes that deserve a second look</a:t>
            </a:r>
          </a:p>
        </p:txBody>
      </p:sp>
      <p:sp>
        <p:nvSpPr>
          <p:cNvPr id="10" name="">
            <a:extLst xmlns:a="http://schemas.openxmlformats.org/drawingml/2006/main">
              <a:ext uri="{FF2B5EF4-FFF2-40B4-BE49-F238E27FC236}">
                <a16:creationId xmlns:a16="http://schemas.microsoft.com/office/drawing/2014/main" id="{60C0A1EC-E14D-4DD2-AE10-4DBA7017D487}"/>
              </a:ext>
            </a:extLst>
          </p:cNvPr>
          <p:cNvSpPr>
            <a:spLocks xmlns:a="http://schemas.openxmlformats.org/drawingml/2006/main" noGrp="1"/>
          </p:cNvSpPr>
          <p:nvPr/>
        </p:nvSpPr>
        <p:spPr>
          <a:xfrm xmlns:a="http://schemas.openxmlformats.org/drawingml/2006/main">
            <a:off x="590550" y="335280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24DD1E6-9B7E-44CE-A803-09B93168E82B}"/>
              </a:ext>
            </a:extLst>
          </p:cNvPr>
          <p:cNvSpPr>
            <a:spLocks xmlns:a="http://schemas.openxmlformats.org/drawingml/2006/main" noGrp="1"/>
          </p:cNvSpPr>
          <p:nvPr/>
        </p:nvSpPr>
        <p:spPr>
          <a:xfrm xmlns:a="http://schemas.openxmlformats.org/drawingml/2006/main">
            <a:off x="1190625" y="335280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Small businesses</a:t>
            </a:r>
          </a:p>
        </p:txBody>
      </p:sp>
      <p:sp>
        <p:nvSpPr>
          <p:cNvPr id="12" name="">
            <a:extLst xmlns:a="http://schemas.openxmlformats.org/drawingml/2006/main">
              <a:ext uri="{FF2B5EF4-FFF2-40B4-BE49-F238E27FC236}">
                <a16:creationId xmlns:a16="http://schemas.microsoft.com/office/drawing/2014/main" id="{F942B82E-C822-4E1F-9055-599432FF019E}"/>
              </a:ext>
            </a:extLst>
          </p:cNvPr>
          <p:cNvSpPr>
            <a:spLocks xmlns:a="http://schemas.openxmlformats.org/drawingml/2006/main" noGrp="1"/>
          </p:cNvSpPr>
          <p:nvPr/>
        </p:nvSpPr>
        <p:spPr>
          <a:xfrm xmlns:a="http://schemas.openxmlformats.org/drawingml/2006/main">
            <a:off x="1190625" y="373380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Invoices and urgent requests that arrive by email</a:t>
            </a:r>
          </a:p>
        </p:txBody>
      </p:sp>
    </p:spTree>
    <p:extLst>
      <p:ext uri="{BB962C8B-B14F-4D97-AF65-F5344CB8AC3E}">
        <p14:creationId xmlns:p14="http://schemas.microsoft.com/office/powerpoint/2010/main" val="4033829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B986ABF-1753-48F9-A050-1076BB868650}"/>
              </a:ext>
            </a:extLst>
          </p:cNvPr>
          <p:cNvPicPr>
            <a:picLocks xmlns:a="http://schemas.openxmlformats.org/drawingml/2006/main" noChangeAspect="1"/>
          </p:cNvPicPr>
          <p:nvPr/>
        </p:nvPicPr>
        <p:blipFill>
          <a:blip xmlns:r="http://schemas.openxmlformats.org/officeDocument/2006/relationships" xmlns:a="http://schemas.openxmlformats.org/drawingml/2006/main" r:embed="R12d8d089428d4ac7"/>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FB77B01-156C-454D-AF34-ECB674130208}"/>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A useful answer in one screen</a:t>
            </a:r>
          </a:p>
        </p:txBody>
      </p:sp>
      <p:sp>
        <p:nvSpPr>
          <p:cNvPr id="3" name="">
            <a:extLst xmlns:a="http://schemas.openxmlformats.org/drawingml/2006/main">
              <a:ext uri="{FF2B5EF4-FFF2-40B4-BE49-F238E27FC236}">
                <a16:creationId xmlns:a16="http://schemas.microsoft.com/office/drawing/2014/main" id="{ECD16ACD-B129-48B7-AE2F-46F6975D2175}"/>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D48EDAF-B20F-44C3-9DFE-465295FF2667}"/>
              </a:ext>
            </a:extLst>
          </p:cNvPr>
          <p:cNvSpPr>
            <a:spLocks xmlns:a="http://schemas.openxmlformats.org/drawingml/2006/main" noGrp="1"/>
          </p:cNvSpPr>
          <p:nvPr/>
        </p:nvSpPr>
        <p:spPr>
          <a:xfrm xmlns:a="http://schemas.openxmlformats.org/drawingml/2006/main">
            <a:off x="590550" y="13811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43A45"/>
                </a:solidFill>
                <a:latin typeface="Arial"/>
                <a:ea typeface="Arial"/>
                <a:cs typeface="Arial"/>
              </a:defRPr>
            </a:defPPr>
            <a:lvl1pPr>
              <a:defRPr sz="2325" b="1">
                <a:solidFill>
                  <a:srgbClr val="243A45"/>
                </a:solidFill>
                <a:latin typeface="Arial"/>
                <a:ea typeface="Arial"/>
                <a:cs typeface="Arial"/>
              </a:defRPr>
            </a:lvl1pPr>
            <a:lvl2pPr>
              <a:defRPr sz="2325" b="1">
                <a:solidFill>
                  <a:srgbClr val="243A45"/>
                </a:solidFill>
                <a:latin typeface="Arial"/>
                <a:ea typeface="Arial"/>
                <a:cs typeface="Arial"/>
              </a:defRPr>
            </a:lvl2pPr>
            <a:lvl3pPr>
              <a:defRPr sz="2325" b="1">
                <a:solidFill>
                  <a:srgbClr val="243A45"/>
                </a:solidFill>
                <a:latin typeface="Arial"/>
                <a:ea typeface="Arial"/>
                <a:cs typeface="Arial"/>
              </a:defRPr>
            </a:lvl3pPr>
            <a:lvl4pPr>
              <a:defRPr sz="2325" b="1">
                <a:solidFill>
                  <a:srgbClr val="243A45"/>
                </a:solidFill>
                <a:latin typeface="Arial"/>
                <a:ea typeface="Arial"/>
                <a:cs typeface="Arial"/>
              </a:defRPr>
            </a:lvl4pPr>
            <a:lvl5pPr>
              <a:defRPr sz="2325" b="1">
                <a:solidFill>
                  <a:srgbClr val="243A45"/>
                </a:solidFill>
                <a:latin typeface="Arial"/>
                <a:ea typeface="Arial"/>
                <a:cs typeface="Arial"/>
              </a:defRPr>
            </a:lvl5pPr>
            <a:lvl6pPr>
              <a:defRPr sz="2325" b="1">
                <a:solidFill>
                  <a:srgbClr val="243A45"/>
                </a:solidFill>
                <a:latin typeface="Arial"/>
                <a:ea typeface="Arial"/>
                <a:cs typeface="Arial"/>
              </a:defRPr>
            </a:lvl6pPr>
            <a:lvl7pPr>
              <a:defRPr sz="2325" b="1">
                <a:solidFill>
                  <a:srgbClr val="243A45"/>
                </a:solidFill>
                <a:latin typeface="Arial"/>
                <a:ea typeface="Arial"/>
                <a:cs typeface="Arial"/>
              </a:defRPr>
            </a:lvl7pPr>
            <a:lvl8pPr>
              <a:defRPr sz="2325" b="1">
                <a:solidFill>
                  <a:srgbClr val="243A45"/>
                </a:solidFill>
                <a:latin typeface="Arial"/>
                <a:ea typeface="Arial"/>
                <a:cs typeface="Arial"/>
              </a:defRPr>
            </a:lvl8pPr>
            <a:lvl9pPr>
              <a:defRPr sz="2325" b="1">
                <a:solidFill>
                  <a:srgbClr val="243A45"/>
                </a:solidFill>
                <a:latin typeface="Arial"/>
                <a:ea typeface="Arial"/>
                <a:cs typeface="Arial"/>
              </a:defRPr>
            </a:lvl9pPr>
          </a:lstStyle>
          <a:p xmlns:a="http://schemas.openxmlformats.org/drawingml/2006/main">
            <a:pPr>
              <a:defRPr sz="2325" b="1">
                <a:solidFill>
                  <a:srgbClr val="243A45"/>
                </a:solidFill>
                <a:latin typeface="Arial"/>
                <a:ea typeface="Arial"/>
                <a:cs typeface="Arial"/>
              </a:defRPr>
            </a:pPr>
            <a:r>
              <a:rPr sz="2325" b="1">
                <a:solidFill>
                  <a:srgbClr val="243A45"/>
                </a:solidFill>
                <a:latin typeface="Arial"/>
                <a:ea typeface="Arial"/>
                <a:cs typeface="Arial"/>
              </a:rPr>
              <a:t>Paste a link or message</a:t>
            </a:r>
          </a:p>
        </p:txBody>
      </p:sp>
      <p:sp>
        <p:nvSpPr>
          <p:cNvPr id="5" name="">
            <a:extLst xmlns:a="http://schemas.openxmlformats.org/drawingml/2006/main">
              <a:ext uri="{FF2B5EF4-FFF2-40B4-BE49-F238E27FC236}">
                <a16:creationId xmlns:a16="http://schemas.microsoft.com/office/drawing/2014/main" id="{408EBCA6-A0D9-4297-8E31-F80BB467FC8F}"/>
              </a:ext>
            </a:extLst>
          </p:cNvPr>
          <p:cNvSpPr>
            <a:spLocks xmlns:a="http://schemas.openxmlformats.org/drawingml/2006/main" noGrp="1"/>
          </p:cNvSpPr>
          <p:nvPr/>
        </p:nvSpPr>
        <p:spPr>
          <a:xfrm xmlns:a="http://schemas.openxmlformats.org/drawingml/2006/main">
            <a:off x="590550" y="19812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86772"/>
                </a:solidFill>
                <a:latin typeface="Arial"/>
                <a:ea typeface="Arial"/>
                <a:cs typeface="Arial"/>
              </a:defRPr>
            </a:defPPr>
            <a:lvl1pPr>
              <a:defRPr sz="2025" b="0">
                <a:solidFill>
                  <a:srgbClr val="586772"/>
                </a:solidFill>
                <a:latin typeface="Arial"/>
                <a:ea typeface="Arial"/>
                <a:cs typeface="Arial"/>
              </a:defRPr>
            </a:lvl1pPr>
            <a:lvl2pPr>
              <a:defRPr sz="2025" b="0">
                <a:solidFill>
                  <a:srgbClr val="586772"/>
                </a:solidFill>
                <a:latin typeface="Arial"/>
                <a:ea typeface="Arial"/>
                <a:cs typeface="Arial"/>
              </a:defRPr>
            </a:lvl2pPr>
            <a:lvl3pPr>
              <a:defRPr sz="2025" b="0">
                <a:solidFill>
                  <a:srgbClr val="586772"/>
                </a:solidFill>
                <a:latin typeface="Arial"/>
                <a:ea typeface="Arial"/>
                <a:cs typeface="Arial"/>
              </a:defRPr>
            </a:lvl3pPr>
            <a:lvl4pPr>
              <a:defRPr sz="2025" b="0">
                <a:solidFill>
                  <a:srgbClr val="586772"/>
                </a:solidFill>
                <a:latin typeface="Arial"/>
                <a:ea typeface="Arial"/>
                <a:cs typeface="Arial"/>
              </a:defRPr>
            </a:lvl4pPr>
            <a:lvl5pPr>
              <a:defRPr sz="2025" b="0">
                <a:solidFill>
                  <a:srgbClr val="586772"/>
                </a:solidFill>
                <a:latin typeface="Arial"/>
                <a:ea typeface="Arial"/>
                <a:cs typeface="Arial"/>
              </a:defRPr>
            </a:lvl5pPr>
            <a:lvl6pPr>
              <a:defRPr sz="2025" b="0">
                <a:solidFill>
                  <a:srgbClr val="586772"/>
                </a:solidFill>
                <a:latin typeface="Arial"/>
                <a:ea typeface="Arial"/>
                <a:cs typeface="Arial"/>
              </a:defRPr>
            </a:lvl6pPr>
            <a:lvl7pPr>
              <a:defRPr sz="2025" b="0">
                <a:solidFill>
                  <a:srgbClr val="586772"/>
                </a:solidFill>
                <a:latin typeface="Arial"/>
                <a:ea typeface="Arial"/>
                <a:cs typeface="Arial"/>
              </a:defRPr>
            </a:lvl7pPr>
            <a:lvl8pPr>
              <a:defRPr sz="2025" b="0">
                <a:solidFill>
                  <a:srgbClr val="586772"/>
                </a:solidFill>
                <a:latin typeface="Arial"/>
                <a:ea typeface="Arial"/>
                <a:cs typeface="Arial"/>
              </a:defRPr>
            </a:lvl8pPr>
            <a:lvl9pPr>
              <a:defRPr sz="2025" b="0">
                <a:solidFill>
                  <a:srgbClr val="586772"/>
                </a:solidFill>
                <a:latin typeface="Arial"/>
                <a:ea typeface="Arial"/>
                <a:cs typeface="Arial"/>
              </a:defRPr>
            </a:lvl9pPr>
          </a:lstStyle>
          <a:p xmlns:a="http://schemas.openxmlformats.org/drawingml/2006/main">
            <a:pPr>
              <a:defRPr sz="2025" b="0">
                <a:solidFill>
                  <a:srgbClr val="586772"/>
                </a:solidFill>
                <a:latin typeface="Arial"/>
                <a:ea typeface="Arial"/>
                <a:cs typeface="Arial"/>
              </a:defRPr>
            </a:pPr>
            <a:r>
              <a:rPr sz="2025" b="0">
                <a:solidFill>
                  <a:srgbClr val="586772"/>
                </a:solidFill>
                <a:latin typeface="Arial"/>
                <a:ea typeface="Arial"/>
                <a:cs typeface="Arial"/>
              </a:rPr>
              <a:t>Or attach an email file</a:t>
            </a:r>
          </a:p>
          <a:p xmlns:a="http://schemas.openxmlformats.org/drawingml/2006/main">
            <a:pPr>
              <a:defRPr sz="2025" b="0">
                <a:solidFill>
                  <a:srgbClr val="586772"/>
                </a:solidFill>
                <a:latin typeface="Arial"/>
                <a:ea typeface="Arial"/>
                <a:cs typeface="Arial"/>
              </a:defRPr>
            </a:pPr>
            <a:r>
              <a:rPr sz="2025" b="0">
                <a:solidFill>
                  <a:srgbClr val="586772"/>
                </a:solidFill>
                <a:latin typeface="Arial"/>
                <a:ea typeface="Arial"/>
                <a:cs typeface="Arial"/>
              </a:rPr>
              <a:t>or a QR image.</a:t>
            </a:r>
          </a:p>
        </p:txBody>
      </p:sp>
      <p:sp>
        <p:nvSpPr>
          <p:cNvPr id="6" name="">
            <a:extLst xmlns:a="http://schemas.openxmlformats.org/drawingml/2006/main">
              <a:ext uri="{FF2B5EF4-FFF2-40B4-BE49-F238E27FC236}">
                <a16:creationId xmlns:a16="http://schemas.microsoft.com/office/drawing/2014/main" id="{B07C3C2A-8195-4294-8037-71BD6D4AF68D}"/>
              </a:ext>
            </a:extLst>
          </p:cNvPr>
          <p:cNvSpPr>
            <a:spLocks xmlns:a="http://schemas.openxmlformats.org/drawingml/2006/main" noGrp="1"/>
          </p:cNvSpPr>
          <p:nvPr/>
        </p:nvSpPr>
        <p:spPr>
          <a:xfrm xmlns:a="http://schemas.openxmlformats.org/drawingml/2006/main">
            <a:off x="590550" y="31623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79E8C"/>
                </a:solidFill>
                <a:latin typeface="Arial"/>
                <a:ea typeface="Arial"/>
                <a:cs typeface="Arial"/>
              </a:defRPr>
            </a:defPPr>
            <a:lvl1pPr>
              <a:defRPr sz="2325" b="1">
                <a:solidFill>
                  <a:srgbClr val="079E8C"/>
                </a:solidFill>
                <a:latin typeface="Arial"/>
                <a:ea typeface="Arial"/>
                <a:cs typeface="Arial"/>
              </a:defRPr>
            </a:lvl1pPr>
            <a:lvl2pPr>
              <a:defRPr sz="2325" b="1">
                <a:solidFill>
                  <a:srgbClr val="079E8C"/>
                </a:solidFill>
                <a:latin typeface="Arial"/>
                <a:ea typeface="Arial"/>
                <a:cs typeface="Arial"/>
              </a:defRPr>
            </a:lvl2pPr>
            <a:lvl3pPr>
              <a:defRPr sz="2325" b="1">
                <a:solidFill>
                  <a:srgbClr val="079E8C"/>
                </a:solidFill>
                <a:latin typeface="Arial"/>
                <a:ea typeface="Arial"/>
                <a:cs typeface="Arial"/>
              </a:defRPr>
            </a:lvl3pPr>
            <a:lvl4pPr>
              <a:defRPr sz="2325" b="1">
                <a:solidFill>
                  <a:srgbClr val="079E8C"/>
                </a:solidFill>
                <a:latin typeface="Arial"/>
                <a:ea typeface="Arial"/>
                <a:cs typeface="Arial"/>
              </a:defRPr>
            </a:lvl4pPr>
            <a:lvl5pPr>
              <a:defRPr sz="2325" b="1">
                <a:solidFill>
                  <a:srgbClr val="079E8C"/>
                </a:solidFill>
                <a:latin typeface="Arial"/>
                <a:ea typeface="Arial"/>
                <a:cs typeface="Arial"/>
              </a:defRPr>
            </a:lvl5pPr>
            <a:lvl6pPr>
              <a:defRPr sz="2325" b="1">
                <a:solidFill>
                  <a:srgbClr val="079E8C"/>
                </a:solidFill>
                <a:latin typeface="Arial"/>
                <a:ea typeface="Arial"/>
                <a:cs typeface="Arial"/>
              </a:defRPr>
            </a:lvl6pPr>
            <a:lvl7pPr>
              <a:defRPr sz="2325" b="1">
                <a:solidFill>
                  <a:srgbClr val="079E8C"/>
                </a:solidFill>
                <a:latin typeface="Arial"/>
                <a:ea typeface="Arial"/>
                <a:cs typeface="Arial"/>
              </a:defRPr>
            </a:lvl7pPr>
            <a:lvl8pPr>
              <a:defRPr sz="2325" b="1">
                <a:solidFill>
                  <a:srgbClr val="079E8C"/>
                </a:solidFill>
                <a:latin typeface="Arial"/>
                <a:ea typeface="Arial"/>
                <a:cs typeface="Arial"/>
              </a:defRPr>
            </a:lvl8pPr>
            <a:lvl9pPr>
              <a:defRPr sz="2325" b="1">
                <a:solidFill>
                  <a:srgbClr val="079E8C"/>
                </a:solidFill>
                <a:latin typeface="Arial"/>
                <a:ea typeface="Arial"/>
                <a:cs typeface="Arial"/>
              </a:defRPr>
            </a:lvl9pPr>
          </a:lstStyle>
          <a:p xmlns:a="http://schemas.openxmlformats.org/drawingml/2006/main">
            <a:pPr>
              <a:defRPr sz="2325" b="1">
                <a:solidFill>
                  <a:srgbClr val="079E8C"/>
                </a:solidFill>
                <a:latin typeface="Arial"/>
                <a:ea typeface="Arial"/>
                <a:cs typeface="Arial"/>
              </a:defRPr>
            </a:pPr>
            <a:r>
              <a:rPr sz="2325" b="1">
                <a:solidFill>
                  <a:srgbClr val="079E8C"/>
                </a:solidFill>
                <a:latin typeface="Arial"/>
                <a:ea typeface="Arial"/>
                <a:cs typeface="Arial"/>
              </a:rPr>
              <a:t>Read the result.</a:t>
            </a:r>
          </a:p>
          <a:p xmlns:a="http://schemas.openxmlformats.org/drawingml/2006/main">
            <a:pPr>
              <a:defRPr sz="2325" b="1">
                <a:solidFill>
                  <a:srgbClr val="079E8C"/>
                </a:solidFill>
                <a:latin typeface="Arial"/>
                <a:ea typeface="Arial"/>
                <a:cs typeface="Arial"/>
              </a:defRPr>
            </a:pPr>
            <a:r>
              <a:rPr sz="2325" b="1">
                <a:solidFill>
                  <a:srgbClr val="079E8C"/>
                </a:solidFill>
                <a:latin typeface="Arial"/>
                <a:ea typeface="Arial"/>
                <a:cs typeface="Arial"/>
              </a:rPr>
              <a:t>See what to do next.</a:t>
            </a:r>
          </a:p>
        </p:txBody>
      </p:sp>
      <p:pic>
        <p:nvPicPr>
          <p:cNvPr id="7" name="">
            <a:extLst xmlns:a="http://schemas.openxmlformats.org/drawingml/2006/main">
              <a:ext uri="{FF2B5EF4-FFF2-40B4-BE49-F238E27FC236}">
                <a16:creationId xmlns:a16="http://schemas.microsoft.com/office/drawing/2014/main" id="{01A5DBA0-FFA5-4369-9F2F-89F152219211}"/>
              </a:ext>
            </a:extLst>
          </p:cNvPr>
          <p:cNvPicPr>
            <a:picLocks xmlns:a="http://schemas.openxmlformats.org/drawingml/2006/main" noChangeAspect="1"/>
          </p:cNvPicPr>
          <p:nvPr/>
        </p:nvPicPr>
        <p:blipFill>
          <a:blip xmlns:r="http://schemas.openxmlformats.org/officeDocument/2006/relationships" xmlns:a="http://schemas.openxmlformats.org/drawingml/2006/main" r:embed="R3ad762069a5b4ab0"/>
          <a:stretch xmlns:a="http://schemas.openxmlformats.org/drawingml/2006/main"/>
        </p:blipFill>
        <p:spPr>
          <a:xfrm xmlns:a="http://schemas.openxmlformats.org/drawingml/2006/main">
            <a:off x="5822674" y="1047750"/>
            <a:ext cx="2070652" cy="3571875"/>
          </a:xfrm>
          <a:prstGeom xmlns:a="http://schemas.openxmlformats.org/drawingml/2006/main" prst="rect">
            <a:avLst/>
          </a:prstGeom>
        </p:spPr>
      </p:pic>
    </p:spTree>
    <p:extLst>
      <p:ext uri="{BB962C8B-B14F-4D97-AF65-F5344CB8AC3E}">
        <p14:creationId xmlns:p14="http://schemas.microsoft.com/office/powerpoint/2010/main" val="19086164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A0772EC-12B7-4970-B1CE-222A138C4CB7}"/>
              </a:ext>
            </a:extLst>
          </p:cNvPr>
          <p:cNvPicPr>
            <a:picLocks xmlns:a="http://schemas.openxmlformats.org/drawingml/2006/main" noChangeAspect="1"/>
          </p:cNvPicPr>
          <p:nvPr/>
        </p:nvPicPr>
        <p:blipFill>
          <a:blip xmlns:r="http://schemas.openxmlformats.org/officeDocument/2006/relationships" xmlns:a="http://schemas.openxmlformats.org/drawingml/2006/main" r:embed="R2d92313a502d49e2"/>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88F84A-E5AB-4DBC-B406-85E76EFEB545}"/>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How a check works</a:t>
            </a:r>
          </a:p>
        </p:txBody>
      </p:sp>
      <p:sp>
        <p:nvSpPr>
          <p:cNvPr id="3" name="">
            <a:extLst xmlns:a="http://schemas.openxmlformats.org/drawingml/2006/main">
              <a:ext uri="{FF2B5EF4-FFF2-40B4-BE49-F238E27FC236}">
                <a16:creationId xmlns:a16="http://schemas.microsoft.com/office/drawing/2014/main" id="{BB53C4C5-B76D-4413-9E37-D6CD5A23069D}"/>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B23FE8B-D13D-44D7-8847-57404721BB61}"/>
              </a:ext>
            </a:extLst>
          </p:cNvPr>
          <p:cNvSpPr>
            <a:spLocks xmlns:a="http://schemas.openxmlformats.org/drawingml/2006/main" noGrp="1"/>
          </p:cNvSpPr>
          <p:nvPr/>
        </p:nvSpPr>
        <p:spPr>
          <a:xfrm xmlns:a="http://schemas.openxmlformats.org/drawingml/2006/main">
            <a:off x="590550" y="11906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F326C67-E2A6-40E2-8F07-B1EFDA633562}"/>
              </a:ext>
            </a:extLst>
          </p:cNvPr>
          <p:cNvSpPr>
            <a:spLocks xmlns:a="http://schemas.openxmlformats.org/drawingml/2006/main" noGrp="1"/>
          </p:cNvSpPr>
          <p:nvPr/>
        </p:nvSpPr>
        <p:spPr>
          <a:xfrm xmlns:a="http://schemas.openxmlformats.org/drawingml/2006/main">
            <a:off x="1190625" y="1190625"/>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You add the content</a:t>
            </a:r>
          </a:p>
        </p:txBody>
      </p:sp>
      <p:sp>
        <p:nvSpPr>
          <p:cNvPr id="6" name="">
            <a:extLst xmlns:a="http://schemas.openxmlformats.org/drawingml/2006/main">
              <a:ext uri="{FF2B5EF4-FFF2-40B4-BE49-F238E27FC236}">
                <a16:creationId xmlns:a16="http://schemas.microsoft.com/office/drawing/2014/main" id="{2C66CEF4-8578-43FF-8314-8AE82F23AD9C}"/>
              </a:ext>
            </a:extLst>
          </p:cNvPr>
          <p:cNvSpPr>
            <a:spLocks xmlns:a="http://schemas.openxmlformats.org/drawingml/2006/main" noGrp="1"/>
          </p:cNvSpPr>
          <p:nvPr/>
        </p:nvSpPr>
        <p:spPr>
          <a:xfrm xmlns:a="http://schemas.openxmlformats.org/drawingml/2006/main">
            <a:off x="1190625" y="1571625"/>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Paste text, attach an email, or upload a QR image</a:t>
            </a:r>
          </a:p>
        </p:txBody>
      </p:sp>
      <p:sp>
        <p:nvSpPr>
          <p:cNvPr id="7" name="">
            <a:extLst xmlns:a="http://schemas.openxmlformats.org/drawingml/2006/main">
              <a:ext uri="{FF2B5EF4-FFF2-40B4-BE49-F238E27FC236}">
                <a16:creationId xmlns:a16="http://schemas.microsoft.com/office/drawing/2014/main" id="{86CC048C-EC6B-4DC8-8DE5-25D6C73E7279}"/>
              </a:ext>
            </a:extLst>
          </p:cNvPr>
          <p:cNvSpPr>
            <a:spLocks xmlns:a="http://schemas.openxmlformats.org/drawingml/2006/main" noGrp="1"/>
          </p:cNvSpPr>
          <p:nvPr/>
        </p:nvSpPr>
        <p:spPr>
          <a:xfrm xmlns:a="http://schemas.openxmlformats.org/drawingml/2006/main">
            <a:off x="590550" y="22574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1AE8D0E-B924-4EB5-960A-615553014F53}"/>
              </a:ext>
            </a:extLst>
          </p:cNvPr>
          <p:cNvSpPr>
            <a:spLocks xmlns:a="http://schemas.openxmlformats.org/drawingml/2006/main" noGrp="1"/>
          </p:cNvSpPr>
          <p:nvPr/>
        </p:nvSpPr>
        <p:spPr>
          <a:xfrm xmlns:a="http://schemas.openxmlformats.org/drawingml/2006/main">
            <a:off x="1190625" y="2257425"/>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Maso runs the checks</a:t>
            </a:r>
          </a:p>
        </p:txBody>
      </p:sp>
      <p:sp>
        <p:nvSpPr>
          <p:cNvPr id="9" name="">
            <a:extLst xmlns:a="http://schemas.openxmlformats.org/drawingml/2006/main">
              <a:ext uri="{FF2B5EF4-FFF2-40B4-BE49-F238E27FC236}">
                <a16:creationId xmlns:a16="http://schemas.microsoft.com/office/drawing/2014/main" id="{672EEC30-1669-4CB5-8662-6DC1E65F9D93}"/>
              </a:ext>
            </a:extLst>
          </p:cNvPr>
          <p:cNvSpPr>
            <a:spLocks xmlns:a="http://schemas.openxmlformats.org/drawingml/2006/main" noGrp="1"/>
          </p:cNvSpPr>
          <p:nvPr/>
        </p:nvSpPr>
        <p:spPr>
          <a:xfrm xmlns:a="http://schemas.openxmlformats.org/drawingml/2006/main">
            <a:off x="1190625" y="2638425"/>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AI examines the text and links. OpenPhish checks reported links.</a:t>
            </a:r>
          </a:p>
        </p:txBody>
      </p:sp>
      <p:sp>
        <p:nvSpPr>
          <p:cNvPr id="10" name="">
            <a:extLst xmlns:a="http://schemas.openxmlformats.org/drawingml/2006/main">
              <a:ext uri="{FF2B5EF4-FFF2-40B4-BE49-F238E27FC236}">
                <a16:creationId xmlns:a16="http://schemas.microsoft.com/office/drawing/2014/main" id="{5569D5D5-0C32-45D9-ACCB-482418A7F530}"/>
              </a:ext>
            </a:extLst>
          </p:cNvPr>
          <p:cNvSpPr>
            <a:spLocks xmlns:a="http://schemas.openxmlformats.org/drawingml/2006/main" noGrp="1"/>
          </p:cNvSpPr>
          <p:nvPr/>
        </p:nvSpPr>
        <p:spPr>
          <a:xfrm xmlns:a="http://schemas.openxmlformats.org/drawingml/2006/main">
            <a:off x="590550" y="33242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7987B61-9147-444B-A906-DC19A16E2462}"/>
              </a:ext>
            </a:extLst>
          </p:cNvPr>
          <p:cNvSpPr>
            <a:spLocks xmlns:a="http://schemas.openxmlformats.org/drawingml/2006/main" noGrp="1"/>
          </p:cNvSpPr>
          <p:nvPr/>
        </p:nvSpPr>
        <p:spPr>
          <a:xfrm xmlns:a="http://schemas.openxmlformats.org/drawingml/2006/main">
            <a:off x="1190625" y="3324225"/>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You get a next step</a:t>
            </a:r>
          </a:p>
        </p:txBody>
      </p:sp>
      <p:sp>
        <p:nvSpPr>
          <p:cNvPr id="12" name="">
            <a:extLst xmlns:a="http://schemas.openxmlformats.org/drawingml/2006/main">
              <a:ext uri="{FF2B5EF4-FFF2-40B4-BE49-F238E27FC236}">
                <a16:creationId xmlns:a16="http://schemas.microsoft.com/office/drawing/2014/main" id="{2DC9C6C5-45E3-4158-A170-95873A204C53}"/>
              </a:ext>
            </a:extLst>
          </p:cNvPr>
          <p:cNvSpPr>
            <a:spLocks xmlns:a="http://schemas.openxmlformats.org/drawingml/2006/main" noGrp="1"/>
          </p:cNvSpPr>
          <p:nvPr/>
        </p:nvSpPr>
        <p:spPr>
          <a:xfrm xmlns:a="http://schemas.openxmlformats.org/drawingml/2006/main">
            <a:off x="1190625" y="3705225"/>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A short result helps you decide whether to stop and verify</a:t>
            </a:r>
          </a:p>
        </p:txBody>
      </p:sp>
    </p:spTree>
    <p:extLst>
      <p:ext uri="{BB962C8B-B14F-4D97-AF65-F5344CB8AC3E}">
        <p14:creationId xmlns:p14="http://schemas.microsoft.com/office/powerpoint/2010/main" val="256020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0860072-20FC-41F3-B1CE-1BCBBDBE29FC}"/>
              </a:ext>
            </a:extLst>
          </p:cNvPr>
          <p:cNvPicPr>
            <a:picLocks xmlns:a="http://schemas.openxmlformats.org/drawingml/2006/main" noChangeAspect="1"/>
          </p:cNvPicPr>
          <p:nvPr/>
        </p:nvPicPr>
        <p:blipFill>
          <a:blip xmlns:r="http://schemas.openxmlformats.org/officeDocument/2006/relationships" xmlns:a="http://schemas.openxmlformats.org/drawingml/2006/main" r:embed="Rf2650febc45a4f85"/>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0F1274-8582-4A1F-95EE-0B261F4341F1}"/>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The AI behind Maso</a:t>
            </a:r>
          </a:p>
        </p:txBody>
      </p:sp>
      <p:sp>
        <p:nvSpPr>
          <p:cNvPr id="3" name="">
            <a:extLst xmlns:a="http://schemas.openxmlformats.org/drawingml/2006/main">
              <a:ext uri="{FF2B5EF4-FFF2-40B4-BE49-F238E27FC236}">
                <a16:creationId xmlns:a16="http://schemas.microsoft.com/office/drawing/2014/main" id="{E6B89917-0C22-45A3-98D7-EDC18AFED8DB}"/>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1CBD895A-4898-46F6-A557-6F8F3F1F938B}"/>
              </a:ext>
            </a:extLst>
          </p:cNvPr>
          <p:cNvSpPr>
            <a:spLocks xmlns:a="http://schemas.openxmlformats.org/drawingml/2006/main" noGrp="1"/>
          </p:cNvSpPr>
          <p:nvPr/>
        </p:nvSpPr>
        <p:spPr>
          <a:xfrm xmlns:a="http://schemas.openxmlformats.org/drawingml/2006/main">
            <a:off x="628650" y="13525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79E8C"/>
                </a:solidFill>
                <a:latin typeface="Arial"/>
                <a:ea typeface="Arial"/>
                <a:cs typeface="Arial"/>
              </a:defRPr>
            </a:defPPr>
            <a:lvl1pPr>
              <a:defRPr sz="3225" b="1">
                <a:solidFill>
                  <a:srgbClr val="079E8C"/>
                </a:solidFill>
                <a:latin typeface="Arial"/>
                <a:ea typeface="Arial"/>
                <a:cs typeface="Arial"/>
              </a:defRPr>
            </a:lvl1pPr>
            <a:lvl2pPr>
              <a:defRPr sz="3225" b="1">
                <a:solidFill>
                  <a:srgbClr val="079E8C"/>
                </a:solidFill>
                <a:latin typeface="Arial"/>
                <a:ea typeface="Arial"/>
                <a:cs typeface="Arial"/>
              </a:defRPr>
            </a:lvl2pPr>
            <a:lvl3pPr>
              <a:defRPr sz="3225" b="1">
                <a:solidFill>
                  <a:srgbClr val="079E8C"/>
                </a:solidFill>
                <a:latin typeface="Arial"/>
                <a:ea typeface="Arial"/>
                <a:cs typeface="Arial"/>
              </a:defRPr>
            </a:lvl3pPr>
            <a:lvl4pPr>
              <a:defRPr sz="3225" b="1">
                <a:solidFill>
                  <a:srgbClr val="079E8C"/>
                </a:solidFill>
                <a:latin typeface="Arial"/>
                <a:ea typeface="Arial"/>
                <a:cs typeface="Arial"/>
              </a:defRPr>
            </a:lvl4pPr>
            <a:lvl5pPr>
              <a:defRPr sz="3225" b="1">
                <a:solidFill>
                  <a:srgbClr val="079E8C"/>
                </a:solidFill>
                <a:latin typeface="Arial"/>
                <a:ea typeface="Arial"/>
                <a:cs typeface="Arial"/>
              </a:defRPr>
            </a:lvl5pPr>
            <a:lvl6pPr>
              <a:defRPr sz="3225" b="1">
                <a:solidFill>
                  <a:srgbClr val="079E8C"/>
                </a:solidFill>
                <a:latin typeface="Arial"/>
                <a:ea typeface="Arial"/>
                <a:cs typeface="Arial"/>
              </a:defRPr>
            </a:lvl6pPr>
            <a:lvl7pPr>
              <a:defRPr sz="3225" b="1">
                <a:solidFill>
                  <a:srgbClr val="079E8C"/>
                </a:solidFill>
                <a:latin typeface="Arial"/>
                <a:ea typeface="Arial"/>
                <a:cs typeface="Arial"/>
              </a:defRPr>
            </a:lvl7pPr>
            <a:lvl8pPr>
              <a:defRPr sz="3225" b="1">
                <a:solidFill>
                  <a:srgbClr val="079E8C"/>
                </a:solidFill>
                <a:latin typeface="Arial"/>
                <a:ea typeface="Arial"/>
                <a:cs typeface="Arial"/>
              </a:defRPr>
            </a:lvl8pPr>
            <a:lvl9pPr>
              <a:defRPr sz="3225" b="1">
                <a:solidFill>
                  <a:srgbClr val="079E8C"/>
                </a:solidFill>
                <a:latin typeface="Arial"/>
                <a:ea typeface="Arial"/>
                <a:cs typeface="Arial"/>
              </a:defRPr>
            </a:lvl9pPr>
          </a:lstStyle>
          <a:p xmlns:a="http://schemas.openxmlformats.org/drawingml/2006/main">
            <a:pPr>
              <a:defRPr sz="3225" b="1">
                <a:solidFill>
                  <a:srgbClr val="079E8C"/>
                </a:solidFill>
                <a:latin typeface="Arial"/>
                <a:ea typeface="Arial"/>
                <a:cs typeface="Arial"/>
              </a:defRPr>
            </a:pPr>
            <a:r>
              <a:rPr sz="3225" b="1">
                <a:solidFill>
                  <a:srgbClr val="079E8C"/>
                </a:solidFill>
                <a:latin typeface="Arial"/>
                <a:ea typeface="Arial"/>
                <a:cs typeface="Arial"/>
              </a:rPr>
              <a:t>BERT</a:t>
            </a:r>
          </a:p>
        </p:txBody>
      </p:sp>
      <p:sp>
        <p:nvSpPr>
          <p:cNvPr id="5" name="">
            <a:extLst xmlns:a="http://schemas.openxmlformats.org/drawingml/2006/main">
              <a:ext uri="{FF2B5EF4-FFF2-40B4-BE49-F238E27FC236}">
                <a16:creationId xmlns:a16="http://schemas.microsoft.com/office/drawing/2014/main" id="{2D19888C-67A0-4CBC-90DA-CB98C1687D9A}"/>
              </a:ext>
            </a:extLst>
          </p:cNvPr>
          <p:cNvSpPr>
            <a:spLocks xmlns:a="http://schemas.openxmlformats.org/drawingml/2006/main" noGrp="1"/>
          </p:cNvSpPr>
          <p:nvPr/>
        </p:nvSpPr>
        <p:spPr>
          <a:xfrm xmlns:a="http://schemas.openxmlformats.org/drawingml/2006/main">
            <a:off x="628650" y="205740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43A45"/>
                </a:solidFill>
                <a:latin typeface="Arial"/>
                <a:ea typeface="Arial"/>
                <a:cs typeface="Arial"/>
              </a:defRPr>
            </a:defPPr>
            <a:lvl1pPr>
              <a:defRPr sz="2100" b="1">
                <a:solidFill>
                  <a:srgbClr val="243A45"/>
                </a:solidFill>
                <a:latin typeface="Arial"/>
                <a:ea typeface="Arial"/>
                <a:cs typeface="Arial"/>
              </a:defRPr>
            </a:lvl1pPr>
            <a:lvl2pPr>
              <a:defRPr sz="2100" b="1">
                <a:solidFill>
                  <a:srgbClr val="243A45"/>
                </a:solidFill>
                <a:latin typeface="Arial"/>
                <a:ea typeface="Arial"/>
                <a:cs typeface="Arial"/>
              </a:defRPr>
            </a:lvl2pPr>
            <a:lvl3pPr>
              <a:defRPr sz="2100" b="1">
                <a:solidFill>
                  <a:srgbClr val="243A45"/>
                </a:solidFill>
                <a:latin typeface="Arial"/>
                <a:ea typeface="Arial"/>
                <a:cs typeface="Arial"/>
              </a:defRPr>
            </a:lvl3pPr>
            <a:lvl4pPr>
              <a:defRPr sz="2100" b="1">
                <a:solidFill>
                  <a:srgbClr val="243A45"/>
                </a:solidFill>
                <a:latin typeface="Arial"/>
                <a:ea typeface="Arial"/>
                <a:cs typeface="Arial"/>
              </a:defRPr>
            </a:lvl4pPr>
            <a:lvl5pPr>
              <a:defRPr sz="2100" b="1">
                <a:solidFill>
                  <a:srgbClr val="243A45"/>
                </a:solidFill>
                <a:latin typeface="Arial"/>
                <a:ea typeface="Arial"/>
                <a:cs typeface="Arial"/>
              </a:defRPr>
            </a:lvl5pPr>
            <a:lvl6pPr>
              <a:defRPr sz="2100" b="1">
                <a:solidFill>
                  <a:srgbClr val="243A45"/>
                </a:solidFill>
                <a:latin typeface="Arial"/>
                <a:ea typeface="Arial"/>
                <a:cs typeface="Arial"/>
              </a:defRPr>
            </a:lvl6pPr>
            <a:lvl7pPr>
              <a:defRPr sz="2100" b="1">
                <a:solidFill>
                  <a:srgbClr val="243A45"/>
                </a:solidFill>
                <a:latin typeface="Arial"/>
                <a:ea typeface="Arial"/>
                <a:cs typeface="Arial"/>
              </a:defRPr>
            </a:lvl7pPr>
            <a:lvl8pPr>
              <a:defRPr sz="2100" b="1">
                <a:solidFill>
                  <a:srgbClr val="243A45"/>
                </a:solidFill>
                <a:latin typeface="Arial"/>
                <a:ea typeface="Arial"/>
                <a:cs typeface="Arial"/>
              </a:defRPr>
            </a:lvl8pPr>
            <a:lvl9pPr>
              <a:defRPr sz="2100" b="1">
                <a:solidFill>
                  <a:srgbClr val="243A45"/>
                </a:solidFill>
                <a:latin typeface="Arial"/>
                <a:ea typeface="Arial"/>
                <a:cs typeface="Arial"/>
              </a:defRPr>
            </a:lvl9pPr>
          </a:lstStyle>
          <a:p xmlns:a="http://schemas.openxmlformats.org/drawingml/2006/main">
            <a:pPr>
              <a:defRPr sz="2100" b="1">
                <a:solidFill>
                  <a:srgbClr val="243A45"/>
                </a:solidFill>
                <a:latin typeface="Arial"/>
                <a:ea typeface="Arial"/>
                <a:cs typeface="Arial"/>
              </a:defRPr>
            </a:pPr>
            <a:r>
              <a:rPr sz="2100" b="1">
                <a:solidFill>
                  <a:srgbClr val="243A45"/>
                </a:solidFill>
                <a:latin typeface="Arial"/>
                <a:ea typeface="Arial"/>
                <a:cs typeface="Arial"/>
              </a:rPr>
              <a:t>Checks message and email text</a:t>
            </a:r>
          </a:p>
        </p:txBody>
      </p:sp>
      <p:sp>
        <p:nvSpPr>
          <p:cNvPr id="6" name="">
            <a:extLst xmlns:a="http://schemas.openxmlformats.org/drawingml/2006/main">
              <a:ext uri="{FF2B5EF4-FFF2-40B4-BE49-F238E27FC236}">
                <a16:creationId xmlns:a16="http://schemas.microsoft.com/office/drawing/2014/main" id="{814BDAB1-A877-43BD-AAE1-22E2805693CB}"/>
              </a:ext>
            </a:extLst>
          </p:cNvPr>
          <p:cNvSpPr>
            <a:spLocks xmlns:a="http://schemas.openxmlformats.org/drawingml/2006/main" noGrp="1"/>
          </p:cNvSpPr>
          <p:nvPr/>
        </p:nvSpPr>
        <p:spPr>
          <a:xfrm xmlns:a="http://schemas.openxmlformats.org/drawingml/2006/main">
            <a:off x="628650" y="2905125"/>
            <a:ext cx="371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86772"/>
                </a:solidFill>
                <a:latin typeface="Arial"/>
                <a:ea typeface="Arial"/>
                <a:cs typeface="Arial"/>
              </a:defRPr>
            </a:defPPr>
            <a:lvl1pPr>
              <a:defRPr sz="1950" b="0">
                <a:solidFill>
                  <a:srgbClr val="586772"/>
                </a:solidFill>
                <a:latin typeface="Arial"/>
                <a:ea typeface="Arial"/>
                <a:cs typeface="Arial"/>
              </a:defRPr>
            </a:lvl1pPr>
            <a:lvl2pPr>
              <a:defRPr sz="1950" b="0">
                <a:solidFill>
                  <a:srgbClr val="586772"/>
                </a:solidFill>
                <a:latin typeface="Arial"/>
                <a:ea typeface="Arial"/>
                <a:cs typeface="Arial"/>
              </a:defRPr>
            </a:lvl2pPr>
            <a:lvl3pPr>
              <a:defRPr sz="1950" b="0">
                <a:solidFill>
                  <a:srgbClr val="586772"/>
                </a:solidFill>
                <a:latin typeface="Arial"/>
                <a:ea typeface="Arial"/>
                <a:cs typeface="Arial"/>
              </a:defRPr>
            </a:lvl3pPr>
            <a:lvl4pPr>
              <a:defRPr sz="1950" b="0">
                <a:solidFill>
                  <a:srgbClr val="586772"/>
                </a:solidFill>
                <a:latin typeface="Arial"/>
                <a:ea typeface="Arial"/>
                <a:cs typeface="Arial"/>
              </a:defRPr>
            </a:lvl4pPr>
            <a:lvl5pPr>
              <a:defRPr sz="1950" b="0">
                <a:solidFill>
                  <a:srgbClr val="586772"/>
                </a:solidFill>
                <a:latin typeface="Arial"/>
                <a:ea typeface="Arial"/>
                <a:cs typeface="Arial"/>
              </a:defRPr>
            </a:lvl5pPr>
            <a:lvl6pPr>
              <a:defRPr sz="1950" b="0">
                <a:solidFill>
                  <a:srgbClr val="586772"/>
                </a:solidFill>
                <a:latin typeface="Arial"/>
                <a:ea typeface="Arial"/>
                <a:cs typeface="Arial"/>
              </a:defRPr>
            </a:lvl6pPr>
            <a:lvl7pPr>
              <a:defRPr sz="1950" b="0">
                <a:solidFill>
                  <a:srgbClr val="586772"/>
                </a:solidFill>
                <a:latin typeface="Arial"/>
                <a:ea typeface="Arial"/>
                <a:cs typeface="Arial"/>
              </a:defRPr>
            </a:lvl7pPr>
            <a:lvl8pPr>
              <a:defRPr sz="1950" b="0">
                <a:solidFill>
                  <a:srgbClr val="586772"/>
                </a:solidFill>
                <a:latin typeface="Arial"/>
                <a:ea typeface="Arial"/>
                <a:cs typeface="Arial"/>
              </a:defRPr>
            </a:lvl8pPr>
            <a:lvl9pPr>
              <a:defRPr sz="1950" b="0">
                <a:solidFill>
                  <a:srgbClr val="586772"/>
                </a:solidFill>
                <a:latin typeface="Arial"/>
                <a:ea typeface="Arial"/>
                <a:cs typeface="Arial"/>
              </a:defRPr>
            </a:lvl9pPr>
          </a:lstStyle>
          <a:p xmlns:a="http://schemas.openxmlformats.org/drawingml/2006/main">
            <a:pPr>
              <a:defRPr sz="1950" b="0">
                <a:solidFill>
                  <a:srgbClr val="586772"/>
                </a:solidFill>
                <a:latin typeface="Arial"/>
                <a:ea typeface="Arial"/>
                <a:cs typeface="Arial"/>
              </a:defRPr>
            </a:pPr>
            <a:r>
              <a:rPr sz="1950" b="0">
                <a:solidFill>
                  <a:srgbClr val="586772"/>
                </a:solidFill>
                <a:latin typeface="Arial"/>
                <a:ea typeface="Arial"/>
                <a:cs typeface="Arial"/>
              </a:rPr>
              <a:t>Learns from examples of scam</a:t>
            </a:r>
          </a:p>
          <a:p xmlns:a="http://schemas.openxmlformats.org/drawingml/2006/main">
            <a:pPr>
              <a:defRPr sz="1950" b="0">
                <a:solidFill>
                  <a:srgbClr val="586772"/>
                </a:solidFill>
                <a:latin typeface="Arial"/>
                <a:ea typeface="Arial"/>
                <a:cs typeface="Arial"/>
              </a:defRPr>
            </a:pPr>
            <a:r>
              <a:rPr sz="1950" b="0">
                <a:solidFill>
                  <a:srgbClr val="586772"/>
                </a:solidFill>
                <a:latin typeface="Arial"/>
                <a:ea typeface="Arial"/>
                <a:cs typeface="Arial"/>
              </a:rPr>
              <a:t>and ordinary language.</a:t>
            </a:r>
          </a:p>
        </p:txBody>
      </p:sp>
      <p:sp>
        <p:nvSpPr>
          <p:cNvPr id="7" name="">
            <a:extLst xmlns:a="http://schemas.openxmlformats.org/drawingml/2006/main">
              <a:ext uri="{FF2B5EF4-FFF2-40B4-BE49-F238E27FC236}">
                <a16:creationId xmlns:a16="http://schemas.microsoft.com/office/drawing/2014/main" id="{ED793A26-8D78-42C6-9455-76181A51D830}"/>
              </a:ext>
            </a:extLst>
          </p:cNvPr>
          <p:cNvSpPr>
            <a:spLocks xmlns:a="http://schemas.openxmlformats.org/drawingml/2006/main" noGrp="1"/>
          </p:cNvSpPr>
          <p:nvPr/>
        </p:nvSpPr>
        <p:spPr>
          <a:xfrm xmlns:a="http://schemas.openxmlformats.org/drawingml/2006/main">
            <a:off x="4857750" y="13525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79E8C"/>
                </a:solidFill>
                <a:latin typeface="Arial"/>
                <a:ea typeface="Arial"/>
                <a:cs typeface="Arial"/>
              </a:defRPr>
            </a:defPPr>
            <a:lvl1pPr>
              <a:defRPr sz="3225" b="1">
                <a:solidFill>
                  <a:srgbClr val="079E8C"/>
                </a:solidFill>
                <a:latin typeface="Arial"/>
                <a:ea typeface="Arial"/>
                <a:cs typeface="Arial"/>
              </a:defRPr>
            </a:lvl1pPr>
            <a:lvl2pPr>
              <a:defRPr sz="3225" b="1">
                <a:solidFill>
                  <a:srgbClr val="079E8C"/>
                </a:solidFill>
                <a:latin typeface="Arial"/>
                <a:ea typeface="Arial"/>
                <a:cs typeface="Arial"/>
              </a:defRPr>
            </a:lvl2pPr>
            <a:lvl3pPr>
              <a:defRPr sz="3225" b="1">
                <a:solidFill>
                  <a:srgbClr val="079E8C"/>
                </a:solidFill>
                <a:latin typeface="Arial"/>
                <a:ea typeface="Arial"/>
                <a:cs typeface="Arial"/>
              </a:defRPr>
            </a:lvl3pPr>
            <a:lvl4pPr>
              <a:defRPr sz="3225" b="1">
                <a:solidFill>
                  <a:srgbClr val="079E8C"/>
                </a:solidFill>
                <a:latin typeface="Arial"/>
                <a:ea typeface="Arial"/>
                <a:cs typeface="Arial"/>
              </a:defRPr>
            </a:lvl4pPr>
            <a:lvl5pPr>
              <a:defRPr sz="3225" b="1">
                <a:solidFill>
                  <a:srgbClr val="079E8C"/>
                </a:solidFill>
                <a:latin typeface="Arial"/>
                <a:ea typeface="Arial"/>
                <a:cs typeface="Arial"/>
              </a:defRPr>
            </a:lvl5pPr>
            <a:lvl6pPr>
              <a:defRPr sz="3225" b="1">
                <a:solidFill>
                  <a:srgbClr val="079E8C"/>
                </a:solidFill>
                <a:latin typeface="Arial"/>
                <a:ea typeface="Arial"/>
                <a:cs typeface="Arial"/>
              </a:defRPr>
            </a:lvl6pPr>
            <a:lvl7pPr>
              <a:defRPr sz="3225" b="1">
                <a:solidFill>
                  <a:srgbClr val="079E8C"/>
                </a:solidFill>
                <a:latin typeface="Arial"/>
                <a:ea typeface="Arial"/>
                <a:cs typeface="Arial"/>
              </a:defRPr>
            </a:lvl7pPr>
            <a:lvl8pPr>
              <a:defRPr sz="3225" b="1">
                <a:solidFill>
                  <a:srgbClr val="079E8C"/>
                </a:solidFill>
                <a:latin typeface="Arial"/>
                <a:ea typeface="Arial"/>
                <a:cs typeface="Arial"/>
              </a:defRPr>
            </a:lvl8pPr>
            <a:lvl9pPr>
              <a:defRPr sz="3225" b="1">
                <a:solidFill>
                  <a:srgbClr val="079E8C"/>
                </a:solidFill>
                <a:latin typeface="Arial"/>
                <a:ea typeface="Arial"/>
                <a:cs typeface="Arial"/>
              </a:defRPr>
            </a:lvl9pPr>
          </a:lstStyle>
          <a:p xmlns:a="http://schemas.openxmlformats.org/drawingml/2006/main">
            <a:pPr>
              <a:defRPr sz="3225" b="1">
                <a:solidFill>
                  <a:srgbClr val="079E8C"/>
                </a:solidFill>
                <a:latin typeface="Arial"/>
                <a:ea typeface="Arial"/>
                <a:cs typeface="Arial"/>
              </a:defRPr>
            </a:pPr>
            <a:r>
              <a:rPr sz="3225" b="1">
                <a:solidFill>
                  <a:srgbClr val="079E8C"/>
                </a:solidFill>
                <a:latin typeface="Arial"/>
                <a:ea typeface="Arial"/>
                <a:cs typeface="Arial"/>
              </a:rPr>
              <a:t>URLBERT</a:t>
            </a:r>
          </a:p>
        </p:txBody>
      </p:sp>
      <p:sp>
        <p:nvSpPr>
          <p:cNvPr id="8" name="">
            <a:extLst xmlns:a="http://schemas.openxmlformats.org/drawingml/2006/main">
              <a:ext uri="{FF2B5EF4-FFF2-40B4-BE49-F238E27FC236}">
                <a16:creationId xmlns:a16="http://schemas.microsoft.com/office/drawing/2014/main" id="{DE38F010-D634-46C8-AC97-28A99834BD0B}"/>
              </a:ext>
            </a:extLst>
          </p:cNvPr>
          <p:cNvSpPr>
            <a:spLocks xmlns:a="http://schemas.openxmlformats.org/drawingml/2006/main" noGrp="1"/>
          </p:cNvSpPr>
          <p:nvPr/>
        </p:nvSpPr>
        <p:spPr>
          <a:xfrm xmlns:a="http://schemas.openxmlformats.org/drawingml/2006/main">
            <a:off x="4857750" y="205740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43A45"/>
                </a:solidFill>
                <a:latin typeface="Arial"/>
                <a:ea typeface="Arial"/>
                <a:cs typeface="Arial"/>
              </a:defRPr>
            </a:defPPr>
            <a:lvl1pPr>
              <a:defRPr sz="2100" b="1">
                <a:solidFill>
                  <a:srgbClr val="243A45"/>
                </a:solidFill>
                <a:latin typeface="Arial"/>
                <a:ea typeface="Arial"/>
                <a:cs typeface="Arial"/>
              </a:defRPr>
            </a:lvl1pPr>
            <a:lvl2pPr>
              <a:defRPr sz="2100" b="1">
                <a:solidFill>
                  <a:srgbClr val="243A45"/>
                </a:solidFill>
                <a:latin typeface="Arial"/>
                <a:ea typeface="Arial"/>
                <a:cs typeface="Arial"/>
              </a:defRPr>
            </a:lvl2pPr>
            <a:lvl3pPr>
              <a:defRPr sz="2100" b="1">
                <a:solidFill>
                  <a:srgbClr val="243A45"/>
                </a:solidFill>
                <a:latin typeface="Arial"/>
                <a:ea typeface="Arial"/>
                <a:cs typeface="Arial"/>
              </a:defRPr>
            </a:lvl3pPr>
            <a:lvl4pPr>
              <a:defRPr sz="2100" b="1">
                <a:solidFill>
                  <a:srgbClr val="243A45"/>
                </a:solidFill>
                <a:latin typeface="Arial"/>
                <a:ea typeface="Arial"/>
                <a:cs typeface="Arial"/>
              </a:defRPr>
            </a:lvl4pPr>
            <a:lvl5pPr>
              <a:defRPr sz="2100" b="1">
                <a:solidFill>
                  <a:srgbClr val="243A45"/>
                </a:solidFill>
                <a:latin typeface="Arial"/>
                <a:ea typeface="Arial"/>
                <a:cs typeface="Arial"/>
              </a:defRPr>
            </a:lvl5pPr>
            <a:lvl6pPr>
              <a:defRPr sz="2100" b="1">
                <a:solidFill>
                  <a:srgbClr val="243A45"/>
                </a:solidFill>
                <a:latin typeface="Arial"/>
                <a:ea typeface="Arial"/>
                <a:cs typeface="Arial"/>
              </a:defRPr>
            </a:lvl6pPr>
            <a:lvl7pPr>
              <a:defRPr sz="2100" b="1">
                <a:solidFill>
                  <a:srgbClr val="243A45"/>
                </a:solidFill>
                <a:latin typeface="Arial"/>
                <a:ea typeface="Arial"/>
                <a:cs typeface="Arial"/>
              </a:defRPr>
            </a:lvl7pPr>
            <a:lvl8pPr>
              <a:defRPr sz="2100" b="1">
                <a:solidFill>
                  <a:srgbClr val="243A45"/>
                </a:solidFill>
                <a:latin typeface="Arial"/>
                <a:ea typeface="Arial"/>
                <a:cs typeface="Arial"/>
              </a:defRPr>
            </a:lvl8pPr>
            <a:lvl9pPr>
              <a:defRPr sz="2100" b="1">
                <a:solidFill>
                  <a:srgbClr val="243A45"/>
                </a:solidFill>
                <a:latin typeface="Arial"/>
                <a:ea typeface="Arial"/>
                <a:cs typeface="Arial"/>
              </a:defRPr>
            </a:lvl9pPr>
          </a:lstStyle>
          <a:p xmlns:a="http://schemas.openxmlformats.org/drawingml/2006/main">
            <a:pPr>
              <a:defRPr sz="2100" b="1">
                <a:solidFill>
                  <a:srgbClr val="243A45"/>
                </a:solidFill>
                <a:latin typeface="Arial"/>
                <a:ea typeface="Arial"/>
                <a:cs typeface="Arial"/>
              </a:defRPr>
            </a:pPr>
            <a:r>
              <a:rPr sz="2100" b="1">
                <a:solidFill>
                  <a:srgbClr val="243A45"/>
                </a:solidFill>
                <a:latin typeface="Arial"/>
                <a:ea typeface="Arial"/>
                <a:cs typeface="Arial"/>
              </a:rPr>
              <a:t>Checks the written web address</a:t>
            </a:r>
          </a:p>
        </p:txBody>
      </p:sp>
      <p:sp>
        <p:nvSpPr>
          <p:cNvPr id="9" name="">
            <a:extLst xmlns:a="http://schemas.openxmlformats.org/drawingml/2006/main">
              <a:ext uri="{FF2B5EF4-FFF2-40B4-BE49-F238E27FC236}">
                <a16:creationId xmlns:a16="http://schemas.microsoft.com/office/drawing/2014/main" id="{C394ABAF-8BFC-4C7E-B2D8-BCB6B9E7FF96}"/>
              </a:ext>
            </a:extLst>
          </p:cNvPr>
          <p:cNvSpPr>
            <a:spLocks xmlns:a="http://schemas.openxmlformats.org/drawingml/2006/main" noGrp="1"/>
          </p:cNvSpPr>
          <p:nvPr/>
        </p:nvSpPr>
        <p:spPr>
          <a:xfrm xmlns:a="http://schemas.openxmlformats.org/drawingml/2006/main">
            <a:off x="4857750" y="2905125"/>
            <a:ext cx="3667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86772"/>
                </a:solidFill>
                <a:latin typeface="Arial"/>
                <a:ea typeface="Arial"/>
                <a:cs typeface="Arial"/>
              </a:defRPr>
            </a:defPPr>
            <a:lvl1pPr>
              <a:defRPr sz="1950" b="0">
                <a:solidFill>
                  <a:srgbClr val="586772"/>
                </a:solidFill>
                <a:latin typeface="Arial"/>
                <a:ea typeface="Arial"/>
                <a:cs typeface="Arial"/>
              </a:defRPr>
            </a:lvl1pPr>
            <a:lvl2pPr>
              <a:defRPr sz="1950" b="0">
                <a:solidFill>
                  <a:srgbClr val="586772"/>
                </a:solidFill>
                <a:latin typeface="Arial"/>
                <a:ea typeface="Arial"/>
                <a:cs typeface="Arial"/>
              </a:defRPr>
            </a:lvl2pPr>
            <a:lvl3pPr>
              <a:defRPr sz="1950" b="0">
                <a:solidFill>
                  <a:srgbClr val="586772"/>
                </a:solidFill>
                <a:latin typeface="Arial"/>
                <a:ea typeface="Arial"/>
                <a:cs typeface="Arial"/>
              </a:defRPr>
            </a:lvl3pPr>
            <a:lvl4pPr>
              <a:defRPr sz="1950" b="0">
                <a:solidFill>
                  <a:srgbClr val="586772"/>
                </a:solidFill>
                <a:latin typeface="Arial"/>
                <a:ea typeface="Arial"/>
                <a:cs typeface="Arial"/>
              </a:defRPr>
            </a:lvl4pPr>
            <a:lvl5pPr>
              <a:defRPr sz="1950" b="0">
                <a:solidFill>
                  <a:srgbClr val="586772"/>
                </a:solidFill>
                <a:latin typeface="Arial"/>
                <a:ea typeface="Arial"/>
                <a:cs typeface="Arial"/>
              </a:defRPr>
            </a:lvl5pPr>
            <a:lvl6pPr>
              <a:defRPr sz="1950" b="0">
                <a:solidFill>
                  <a:srgbClr val="586772"/>
                </a:solidFill>
                <a:latin typeface="Arial"/>
                <a:ea typeface="Arial"/>
                <a:cs typeface="Arial"/>
              </a:defRPr>
            </a:lvl6pPr>
            <a:lvl7pPr>
              <a:defRPr sz="1950" b="0">
                <a:solidFill>
                  <a:srgbClr val="586772"/>
                </a:solidFill>
                <a:latin typeface="Arial"/>
                <a:ea typeface="Arial"/>
                <a:cs typeface="Arial"/>
              </a:defRPr>
            </a:lvl7pPr>
            <a:lvl8pPr>
              <a:defRPr sz="1950" b="0">
                <a:solidFill>
                  <a:srgbClr val="586772"/>
                </a:solidFill>
                <a:latin typeface="Arial"/>
                <a:ea typeface="Arial"/>
                <a:cs typeface="Arial"/>
              </a:defRPr>
            </a:lvl8pPr>
            <a:lvl9pPr>
              <a:defRPr sz="1950" b="0">
                <a:solidFill>
                  <a:srgbClr val="586772"/>
                </a:solidFill>
                <a:latin typeface="Arial"/>
                <a:ea typeface="Arial"/>
                <a:cs typeface="Arial"/>
              </a:defRPr>
            </a:lvl9pPr>
          </a:lstStyle>
          <a:p xmlns:a="http://schemas.openxmlformats.org/drawingml/2006/main">
            <a:pPr>
              <a:defRPr sz="1950" b="0">
                <a:solidFill>
                  <a:srgbClr val="586772"/>
                </a:solidFill>
                <a:latin typeface="Arial"/>
                <a:ea typeface="Arial"/>
                <a:cs typeface="Arial"/>
              </a:defRPr>
            </a:pPr>
            <a:r>
              <a:rPr sz="1950" b="0">
                <a:solidFill>
                  <a:srgbClr val="586772"/>
                </a:solidFill>
                <a:latin typeface="Arial"/>
                <a:ea typeface="Arial"/>
                <a:cs typeface="Arial"/>
              </a:rPr>
              <a:t>Looks for patterns in links.</a:t>
            </a:r>
          </a:p>
          <a:p xmlns:a="http://schemas.openxmlformats.org/drawingml/2006/main">
            <a:pPr>
              <a:defRPr sz="1950" b="0">
                <a:solidFill>
                  <a:srgbClr val="586772"/>
                </a:solidFill>
                <a:latin typeface="Arial"/>
                <a:ea typeface="Arial"/>
                <a:cs typeface="Arial"/>
              </a:defRPr>
            </a:pPr>
            <a:r>
              <a:rPr sz="1950" b="0">
                <a:solidFill>
                  <a:srgbClr val="586772"/>
                </a:solidFill>
                <a:latin typeface="Arial"/>
                <a:ea typeface="Arial"/>
                <a:cs typeface="Arial"/>
              </a:rPr>
              <a:t>It does not read the website.</a:t>
            </a:r>
          </a:p>
        </p:txBody>
      </p:sp>
      <p:sp>
        <p:nvSpPr>
          <p:cNvPr id="10" name="">
            <a:extLst xmlns:a="http://schemas.openxmlformats.org/drawingml/2006/main">
              <a:ext uri="{FF2B5EF4-FFF2-40B4-BE49-F238E27FC236}">
                <a16:creationId xmlns:a16="http://schemas.microsoft.com/office/drawing/2014/main" id="{4C9AEB3D-76AA-4FA0-B583-7A0781342436}"/>
              </a:ext>
            </a:extLst>
          </p:cNvPr>
          <p:cNvSpPr>
            <a:spLocks xmlns:a="http://schemas.openxmlformats.org/drawingml/2006/main" noGrp="1"/>
          </p:cNvSpPr>
          <p:nvPr/>
        </p:nvSpPr>
        <p:spPr>
          <a:xfrm xmlns:a="http://schemas.openxmlformats.org/drawingml/2006/main">
            <a:off x="628650" y="4257675"/>
            <a:ext cx="790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Hugging Face Transformers and PyTorch run the models locally.</a:t>
            </a:r>
          </a:p>
        </p:txBody>
      </p:sp>
    </p:spTree>
    <p:extLst>
      <p:ext uri="{BB962C8B-B14F-4D97-AF65-F5344CB8AC3E}">
        <p14:creationId xmlns:p14="http://schemas.microsoft.com/office/powerpoint/2010/main" val="9193432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2C2FB68-FA68-449B-8417-F9BB213F8C73}"/>
              </a:ext>
            </a:extLst>
          </p:cNvPr>
          <p:cNvPicPr>
            <a:picLocks xmlns:a="http://schemas.openxmlformats.org/drawingml/2006/main" noChangeAspect="1"/>
          </p:cNvPicPr>
          <p:nvPr/>
        </p:nvPicPr>
        <p:blipFill>
          <a:blip xmlns:r="http://schemas.openxmlformats.org/officeDocument/2006/relationships" xmlns:a="http://schemas.openxmlformats.org/drawingml/2006/main" r:embed="Racebb2dd76ad44ee"/>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586FE66-77A4-415D-ABA9-5083D18E93D1}"/>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OpenPhish adds reported threats</a:t>
            </a:r>
          </a:p>
        </p:txBody>
      </p:sp>
      <p:sp>
        <p:nvSpPr>
          <p:cNvPr id="3" name="">
            <a:extLst xmlns:a="http://schemas.openxmlformats.org/drawingml/2006/main">
              <a:ext uri="{FF2B5EF4-FFF2-40B4-BE49-F238E27FC236}">
                <a16:creationId xmlns:a16="http://schemas.microsoft.com/office/drawing/2014/main" id="{19FB0720-F249-4329-8F00-9A7E126F992A}"/>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59BF1E11-AA8E-439D-A57C-68BC641D5052}"/>
              </a:ext>
            </a:extLst>
          </p:cNvPr>
          <p:cNvSpPr>
            <a:spLocks xmlns:a="http://schemas.openxmlformats.org/drawingml/2006/main" noGrp="1"/>
          </p:cNvSpPr>
          <p:nvPr/>
        </p:nvSpPr>
        <p:spPr>
          <a:xfrm xmlns:a="http://schemas.openxmlformats.org/drawingml/2006/main">
            <a:off x="628650" y="1285875"/>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243A45"/>
                </a:solidFill>
                <a:latin typeface="Arial"/>
                <a:ea typeface="Arial"/>
                <a:cs typeface="Arial"/>
              </a:defRPr>
            </a:defPPr>
            <a:lvl1pPr>
              <a:defRPr sz="2925" b="1">
                <a:solidFill>
                  <a:srgbClr val="243A45"/>
                </a:solidFill>
                <a:latin typeface="Arial"/>
                <a:ea typeface="Arial"/>
                <a:cs typeface="Arial"/>
              </a:defRPr>
            </a:lvl1pPr>
            <a:lvl2pPr>
              <a:defRPr sz="2925" b="1">
                <a:solidFill>
                  <a:srgbClr val="243A45"/>
                </a:solidFill>
                <a:latin typeface="Arial"/>
                <a:ea typeface="Arial"/>
                <a:cs typeface="Arial"/>
              </a:defRPr>
            </a:lvl2pPr>
            <a:lvl3pPr>
              <a:defRPr sz="2925" b="1">
                <a:solidFill>
                  <a:srgbClr val="243A45"/>
                </a:solidFill>
                <a:latin typeface="Arial"/>
                <a:ea typeface="Arial"/>
                <a:cs typeface="Arial"/>
              </a:defRPr>
            </a:lvl3pPr>
            <a:lvl4pPr>
              <a:defRPr sz="2925" b="1">
                <a:solidFill>
                  <a:srgbClr val="243A45"/>
                </a:solidFill>
                <a:latin typeface="Arial"/>
                <a:ea typeface="Arial"/>
                <a:cs typeface="Arial"/>
              </a:defRPr>
            </a:lvl4pPr>
            <a:lvl5pPr>
              <a:defRPr sz="2925" b="1">
                <a:solidFill>
                  <a:srgbClr val="243A45"/>
                </a:solidFill>
                <a:latin typeface="Arial"/>
                <a:ea typeface="Arial"/>
                <a:cs typeface="Arial"/>
              </a:defRPr>
            </a:lvl5pPr>
            <a:lvl6pPr>
              <a:defRPr sz="2925" b="1">
                <a:solidFill>
                  <a:srgbClr val="243A45"/>
                </a:solidFill>
                <a:latin typeface="Arial"/>
                <a:ea typeface="Arial"/>
                <a:cs typeface="Arial"/>
              </a:defRPr>
            </a:lvl6pPr>
            <a:lvl7pPr>
              <a:defRPr sz="2925" b="1">
                <a:solidFill>
                  <a:srgbClr val="243A45"/>
                </a:solidFill>
                <a:latin typeface="Arial"/>
                <a:ea typeface="Arial"/>
                <a:cs typeface="Arial"/>
              </a:defRPr>
            </a:lvl7pPr>
            <a:lvl8pPr>
              <a:defRPr sz="2925" b="1">
                <a:solidFill>
                  <a:srgbClr val="243A45"/>
                </a:solidFill>
                <a:latin typeface="Arial"/>
                <a:ea typeface="Arial"/>
                <a:cs typeface="Arial"/>
              </a:defRPr>
            </a:lvl8pPr>
            <a:lvl9pPr>
              <a:defRPr sz="2925" b="1">
                <a:solidFill>
                  <a:srgbClr val="243A45"/>
                </a:solidFill>
                <a:latin typeface="Arial"/>
                <a:ea typeface="Arial"/>
                <a:cs typeface="Arial"/>
              </a:defRPr>
            </a:lvl9pPr>
          </a:lstStyle>
          <a:p xmlns:a="http://schemas.openxmlformats.org/drawingml/2006/main">
            <a:pPr>
              <a:defRPr sz="2925" b="1">
                <a:solidFill>
                  <a:srgbClr val="243A45"/>
                </a:solidFill>
                <a:latin typeface="Arial"/>
                <a:ea typeface="Arial"/>
                <a:cs typeface="Arial"/>
              </a:defRPr>
            </a:pPr>
            <a:r>
              <a:rPr sz="2925" b="1">
                <a:solidFill>
                  <a:srgbClr val="243A45"/>
                </a:solidFill>
                <a:latin typeface="Arial"/>
                <a:ea typeface="Arial"/>
                <a:cs typeface="Arial"/>
              </a:rPr>
              <a:t>AI estimates risk.</a:t>
            </a:r>
          </a:p>
          <a:p xmlns:a="http://schemas.openxmlformats.org/drawingml/2006/main">
            <a:pPr>
              <a:defRPr sz="2925" b="1">
                <a:solidFill>
                  <a:srgbClr val="243A45"/>
                </a:solidFill>
                <a:latin typeface="Arial"/>
                <a:ea typeface="Arial"/>
                <a:cs typeface="Arial"/>
              </a:defRPr>
            </a:pPr>
            <a:r>
              <a:rPr sz="2925" b="1">
                <a:solidFill>
                  <a:srgbClr val="243A45"/>
                </a:solidFill>
                <a:latin typeface="Arial"/>
                <a:ea typeface="Arial"/>
                <a:cs typeface="Arial"/>
              </a:rPr>
              <a:t>OpenPhish adds a known report.</a:t>
            </a:r>
          </a:p>
        </p:txBody>
      </p:sp>
      <p:sp>
        <p:nvSpPr>
          <p:cNvPr id="5" name="">
            <a:extLst xmlns:a="http://schemas.openxmlformats.org/drawingml/2006/main">
              <a:ext uri="{FF2B5EF4-FFF2-40B4-BE49-F238E27FC236}">
                <a16:creationId xmlns:a16="http://schemas.microsoft.com/office/drawing/2014/main" id="{A38704DC-B207-4CFB-9F5F-6D0ACA8E562D}"/>
              </a:ext>
            </a:extLst>
          </p:cNvPr>
          <p:cNvSpPr>
            <a:spLocks xmlns:a="http://schemas.openxmlformats.org/drawingml/2006/main" noGrp="1"/>
          </p:cNvSpPr>
          <p:nvPr/>
        </p:nvSpPr>
        <p:spPr>
          <a:xfrm xmlns:a="http://schemas.openxmlformats.org/drawingml/2006/main">
            <a:off x="590550" y="261937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74D6924-3FB8-4335-9AC5-21CA47A044CF}"/>
              </a:ext>
            </a:extLst>
          </p:cNvPr>
          <p:cNvSpPr>
            <a:spLocks xmlns:a="http://schemas.openxmlformats.org/drawingml/2006/main" noGrp="1"/>
          </p:cNvSpPr>
          <p:nvPr/>
        </p:nvSpPr>
        <p:spPr>
          <a:xfrm xmlns:a="http://schemas.openxmlformats.org/drawingml/2006/main">
            <a:off x="1190625" y="2619375"/>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Maso downloads the reported-link list</a:t>
            </a:r>
          </a:p>
        </p:txBody>
      </p:sp>
      <p:sp>
        <p:nvSpPr>
          <p:cNvPr id="7" name="">
            <a:extLst xmlns:a="http://schemas.openxmlformats.org/drawingml/2006/main">
              <a:ext uri="{FF2B5EF4-FFF2-40B4-BE49-F238E27FC236}">
                <a16:creationId xmlns:a16="http://schemas.microsoft.com/office/drawing/2014/main" id="{9AA3FECB-CB23-486C-A41B-7EB4D3694F25}"/>
              </a:ext>
            </a:extLst>
          </p:cNvPr>
          <p:cNvSpPr>
            <a:spLocks xmlns:a="http://schemas.openxmlformats.org/drawingml/2006/main" noGrp="1"/>
          </p:cNvSpPr>
          <p:nvPr/>
        </p:nvSpPr>
        <p:spPr>
          <a:xfrm xmlns:a="http://schemas.openxmlformats.org/drawingml/2006/main">
            <a:off x="1190625" y="3000375"/>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The Community list refreshes every 12 hours</a:t>
            </a:r>
          </a:p>
        </p:txBody>
      </p:sp>
      <p:sp>
        <p:nvSpPr>
          <p:cNvPr id="8" name="">
            <a:extLst xmlns:a="http://schemas.openxmlformats.org/drawingml/2006/main">
              <a:ext uri="{FF2B5EF4-FFF2-40B4-BE49-F238E27FC236}">
                <a16:creationId xmlns:a16="http://schemas.microsoft.com/office/drawing/2014/main" id="{B13CEFEB-B180-48DA-8AAB-6B493E60A768}"/>
              </a:ext>
            </a:extLst>
          </p:cNvPr>
          <p:cNvSpPr>
            <a:spLocks xmlns:a="http://schemas.openxmlformats.org/drawingml/2006/main" noGrp="1"/>
          </p:cNvSpPr>
          <p:nvPr/>
        </p:nvSpPr>
        <p:spPr>
          <a:xfrm xmlns:a="http://schemas.openxmlformats.org/drawingml/2006/main">
            <a:off x="590550" y="36385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2C7569E-2E73-4684-916A-476B39D51DCE}"/>
              </a:ext>
            </a:extLst>
          </p:cNvPr>
          <p:cNvSpPr>
            <a:spLocks xmlns:a="http://schemas.openxmlformats.org/drawingml/2006/main" noGrp="1"/>
          </p:cNvSpPr>
          <p:nvPr/>
        </p:nvSpPr>
        <p:spPr>
          <a:xfrm xmlns:a="http://schemas.openxmlformats.org/drawingml/2006/main">
            <a:off x="1190625" y="36385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Your link is compared locally</a:t>
            </a:r>
          </a:p>
        </p:txBody>
      </p:sp>
      <p:sp>
        <p:nvSpPr>
          <p:cNvPr id="10" name="">
            <a:extLst xmlns:a="http://schemas.openxmlformats.org/drawingml/2006/main">
              <a:ext uri="{FF2B5EF4-FFF2-40B4-BE49-F238E27FC236}">
                <a16:creationId xmlns:a16="http://schemas.microsoft.com/office/drawing/2014/main" id="{02303F90-5E39-4C2F-954F-84760AEDA944}"/>
              </a:ext>
            </a:extLst>
          </p:cNvPr>
          <p:cNvSpPr>
            <a:spLocks xmlns:a="http://schemas.openxmlformats.org/drawingml/2006/main" noGrp="1"/>
          </p:cNvSpPr>
          <p:nvPr/>
        </p:nvSpPr>
        <p:spPr>
          <a:xfrm xmlns:a="http://schemas.openxmlformats.org/drawingml/2006/main">
            <a:off x="1190625" y="401955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A match produces an Unsafe result that names OpenPhish</a:t>
            </a:r>
          </a:p>
        </p:txBody>
      </p:sp>
    </p:spTree>
    <p:extLst>
      <p:ext uri="{BB962C8B-B14F-4D97-AF65-F5344CB8AC3E}">
        <p14:creationId xmlns:p14="http://schemas.microsoft.com/office/powerpoint/2010/main" val="5657510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E03A11D-FE15-463D-B46D-214173B7A3F5}"/>
              </a:ext>
            </a:extLst>
          </p:cNvPr>
          <p:cNvPicPr>
            <a:picLocks xmlns:a="http://schemas.openxmlformats.org/drawingml/2006/main" noChangeAspect="1"/>
          </p:cNvPicPr>
          <p:nvPr/>
        </p:nvPicPr>
        <p:blipFill>
          <a:blip xmlns:r="http://schemas.openxmlformats.org/officeDocument/2006/relationships" xmlns:a="http://schemas.openxmlformats.org/drawingml/2006/main" r:embed="Ra640331f81874803"/>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41BE3E-7E64-42CB-93C4-868B1324C1DD}"/>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A warning people can act on</a:t>
            </a:r>
          </a:p>
        </p:txBody>
      </p:sp>
      <p:sp>
        <p:nvSpPr>
          <p:cNvPr id="3" name="">
            <a:extLst xmlns:a="http://schemas.openxmlformats.org/drawingml/2006/main">
              <a:ext uri="{FF2B5EF4-FFF2-40B4-BE49-F238E27FC236}">
                <a16:creationId xmlns:a16="http://schemas.microsoft.com/office/drawing/2014/main" id="{D70C3139-6271-4A7D-AA9E-66E4B2B5A602}"/>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3AB92F3E-D97D-408A-8ED0-866E77520C62}"/>
              </a:ext>
            </a:extLst>
          </p:cNvPr>
          <p:cNvSpPr>
            <a:spLocks xmlns:a="http://schemas.openxmlformats.org/drawingml/2006/main" noGrp="1"/>
          </p:cNvSpPr>
          <p:nvPr/>
        </p:nvSpPr>
        <p:spPr>
          <a:xfrm xmlns:a="http://schemas.openxmlformats.org/drawingml/2006/main">
            <a:off x="647700" y="137160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B3263B"/>
                </a:solidFill>
                <a:latin typeface="Arial"/>
                <a:ea typeface="Arial"/>
                <a:cs typeface="Arial"/>
              </a:defRPr>
            </a:defPPr>
            <a:lvl1pPr>
              <a:defRPr sz="4350" b="1">
                <a:solidFill>
                  <a:srgbClr val="B3263B"/>
                </a:solidFill>
                <a:latin typeface="Arial"/>
                <a:ea typeface="Arial"/>
                <a:cs typeface="Arial"/>
              </a:defRPr>
            </a:lvl1pPr>
            <a:lvl2pPr>
              <a:defRPr sz="4350" b="1">
                <a:solidFill>
                  <a:srgbClr val="B3263B"/>
                </a:solidFill>
                <a:latin typeface="Arial"/>
                <a:ea typeface="Arial"/>
                <a:cs typeface="Arial"/>
              </a:defRPr>
            </a:lvl2pPr>
            <a:lvl3pPr>
              <a:defRPr sz="4350" b="1">
                <a:solidFill>
                  <a:srgbClr val="B3263B"/>
                </a:solidFill>
                <a:latin typeface="Arial"/>
                <a:ea typeface="Arial"/>
                <a:cs typeface="Arial"/>
              </a:defRPr>
            </a:lvl3pPr>
            <a:lvl4pPr>
              <a:defRPr sz="4350" b="1">
                <a:solidFill>
                  <a:srgbClr val="B3263B"/>
                </a:solidFill>
                <a:latin typeface="Arial"/>
                <a:ea typeface="Arial"/>
                <a:cs typeface="Arial"/>
              </a:defRPr>
            </a:lvl4pPr>
            <a:lvl5pPr>
              <a:defRPr sz="4350" b="1">
                <a:solidFill>
                  <a:srgbClr val="B3263B"/>
                </a:solidFill>
                <a:latin typeface="Arial"/>
                <a:ea typeface="Arial"/>
                <a:cs typeface="Arial"/>
              </a:defRPr>
            </a:lvl5pPr>
            <a:lvl6pPr>
              <a:defRPr sz="4350" b="1">
                <a:solidFill>
                  <a:srgbClr val="B3263B"/>
                </a:solidFill>
                <a:latin typeface="Arial"/>
                <a:ea typeface="Arial"/>
                <a:cs typeface="Arial"/>
              </a:defRPr>
            </a:lvl6pPr>
            <a:lvl7pPr>
              <a:defRPr sz="4350" b="1">
                <a:solidFill>
                  <a:srgbClr val="B3263B"/>
                </a:solidFill>
                <a:latin typeface="Arial"/>
                <a:ea typeface="Arial"/>
                <a:cs typeface="Arial"/>
              </a:defRPr>
            </a:lvl7pPr>
            <a:lvl8pPr>
              <a:defRPr sz="4350" b="1">
                <a:solidFill>
                  <a:srgbClr val="B3263B"/>
                </a:solidFill>
                <a:latin typeface="Arial"/>
                <a:ea typeface="Arial"/>
                <a:cs typeface="Arial"/>
              </a:defRPr>
            </a:lvl8pPr>
            <a:lvl9pPr>
              <a:defRPr sz="4350" b="1">
                <a:solidFill>
                  <a:srgbClr val="B3263B"/>
                </a:solidFill>
                <a:latin typeface="Arial"/>
                <a:ea typeface="Arial"/>
                <a:cs typeface="Arial"/>
              </a:defRPr>
            </a:lvl9pPr>
          </a:lstStyle>
          <a:p xmlns:a="http://schemas.openxmlformats.org/drawingml/2006/main">
            <a:pPr>
              <a:defRPr sz="4350" b="1">
                <a:solidFill>
                  <a:srgbClr val="B3263B"/>
                </a:solidFill>
                <a:latin typeface="Arial"/>
                <a:ea typeface="Arial"/>
                <a:cs typeface="Arial"/>
              </a:defRPr>
            </a:pPr>
            <a:r>
              <a:rPr sz="4350" b="1">
                <a:solidFill>
                  <a:srgbClr val="B3263B"/>
                </a:solidFill>
                <a:latin typeface="Arial"/>
                <a:ea typeface="Arial"/>
                <a:cs typeface="Arial"/>
              </a:rPr>
              <a:t>Unsafe link</a:t>
            </a:r>
          </a:p>
        </p:txBody>
      </p:sp>
      <p:sp>
        <p:nvSpPr>
          <p:cNvPr id="5" name="">
            <a:extLst xmlns:a="http://schemas.openxmlformats.org/drawingml/2006/main">
              <a:ext uri="{FF2B5EF4-FFF2-40B4-BE49-F238E27FC236}">
                <a16:creationId xmlns:a16="http://schemas.microsoft.com/office/drawing/2014/main" id="{F8428205-8BFC-4E4F-AB4B-CC9708E855C4}"/>
              </a:ext>
            </a:extLst>
          </p:cNvPr>
          <p:cNvSpPr>
            <a:spLocks xmlns:a="http://schemas.openxmlformats.org/drawingml/2006/main" noGrp="1"/>
          </p:cNvSpPr>
          <p:nvPr/>
        </p:nvSpPr>
        <p:spPr>
          <a:xfrm xmlns:a="http://schemas.openxmlformats.org/drawingml/2006/main">
            <a:off x="666750" y="233362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43A45"/>
                </a:solidFill>
                <a:latin typeface="Arial"/>
                <a:ea typeface="Arial"/>
                <a:cs typeface="Arial"/>
              </a:defRPr>
            </a:defPPr>
            <a:lvl1pPr>
              <a:defRPr sz="2175" b="0">
                <a:solidFill>
                  <a:srgbClr val="243A45"/>
                </a:solidFill>
                <a:latin typeface="Arial"/>
                <a:ea typeface="Arial"/>
                <a:cs typeface="Arial"/>
              </a:defRPr>
            </a:lvl1pPr>
            <a:lvl2pPr>
              <a:defRPr sz="2175" b="0">
                <a:solidFill>
                  <a:srgbClr val="243A45"/>
                </a:solidFill>
                <a:latin typeface="Arial"/>
                <a:ea typeface="Arial"/>
                <a:cs typeface="Arial"/>
              </a:defRPr>
            </a:lvl2pPr>
            <a:lvl3pPr>
              <a:defRPr sz="2175" b="0">
                <a:solidFill>
                  <a:srgbClr val="243A45"/>
                </a:solidFill>
                <a:latin typeface="Arial"/>
                <a:ea typeface="Arial"/>
                <a:cs typeface="Arial"/>
              </a:defRPr>
            </a:lvl3pPr>
            <a:lvl4pPr>
              <a:defRPr sz="2175" b="0">
                <a:solidFill>
                  <a:srgbClr val="243A45"/>
                </a:solidFill>
                <a:latin typeface="Arial"/>
                <a:ea typeface="Arial"/>
                <a:cs typeface="Arial"/>
              </a:defRPr>
            </a:lvl4pPr>
            <a:lvl5pPr>
              <a:defRPr sz="2175" b="0">
                <a:solidFill>
                  <a:srgbClr val="243A45"/>
                </a:solidFill>
                <a:latin typeface="Arial"/>
                <a:ea typeface="Arial"/>
                <a:cs typeface="Arial"/>
              </a:defRPr>
            </a:lvl5pPr>
            <a:lvl6pPr>
              <a:defRPr sz="2175" b="0">
                <a:solidFill>
                  <a:srgbClr val="243A45"/>
                </a:solidFill>
                <a:latin typeface="Arial"/>
                <a:ea typeface="Arial"/>
                <a:cs typeface="Arial"/>
              </a:defRPr>
            </a:lvl6pPr>
            <a:lvl7pPr>
              <a:defRPr sz="2175" b="0">
                <a:solidFill>
                  <a:srgbClr val="243A45"/>
                </a:solidFill>
                <a:latin typeface="Arial"/>
                <a:ea typeface="Arial"/>
                <a:cs typeface="Arial"/>
              </a:defRPr>
            </a:lvl7pPr>
            <a:lvl8pPr>
              <a:defRPr sz="2175" b="0">
                <a:solidFill>
                  <a:srgbClr val="243A45"/>
                </a:solidFill>
                <a:latin typeface="Arial"/>
                <a:ea typeface="Arial"/>
                <a:cs typeface="Arial"/>
              </a:defRPr>
            </a:lvl8pPr>
            <a:lvl9pPr>
              <a:defRPr sz="2175" b="0">
                <a:solidFill>
                  <a:srgbClr val="243A45"/>
                </a:solidFill>
                <a:latin typeface="Arial"/>
                <a:ea typeface="Arial"/>
                <a:cs typeface="Arial"/>
              </a:defRPr>
            </a:lvl9pPr>
          </a:lstStyle>
          <a:p xmlns:a="http://schemas.openxmlformats.org/drawingml/2006/main">
            <a:pPr>
              <a:defRPr sz="2175" b="0">
                <a:solidFill>
                  <a:srgbClr val="243A45"/>
                </a:solidFill>
                <a:latin typeface="Arial"/>
                <a:ea typeface="Arial"/>
                <a:cs typeface="Arial"/>
              </a:defRPr>
            </a:pPr>
            <a:r>
              <a:rPr sz="2175" b="0">
                <a:solidFill>
                  <a:srgbClr val="243A45"/>
                </a:solidFill>
                <a:latin typeface="Arial"/>
                <a:ea typeface="Arial"/>
                <a:cs typeface="Arial"/>
              </a:rPr>
              <a:t>OpenPhish reports this link as harmful.</a:t>
            </a:r>
          </a:p>
        </p:txBody>
      </p:sp>
      <p:sp>
        <p:nvSpPr>
          <p:cNvPr id="6" name="">
            <a:extLst xmlns:a="http://schemas.openxmlformats.org/drawingml/2006/main">
              <a:ext uri="{FF2B5EF4-FFF2-40B4-BE49-F238E27FC236}">
                <a16:creationId xmlns:a16="http://schemas.microsoft.com/office/drawing/2014/main" id="{7B5A3480-0EC3-44F3-A1B1-983987950761}"/>
              </a:ext>
            </a:extLst>
          </p:cNvPr>
          <p:cNvSpPr>
            <a:spLocks xmlns:a="http://schemas.openxmlformats.org/drawingml/2006/main" noGrp="1"/>
          </p:cNvSpPr>
          <p:nvPr/>
        </p:nvSpPr>
        <p:spPr>
          <a:xfrm xmlns:a="http://schemas.openxmlformats.org/drawingml/2006/main">
            <a:off x="666750" y="321945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43A45"/>
                </a:solidFill>
                <a:latin typeface="Arial"/>
                <a:ea typeface="Arial"/>
                <a:cs typeface="Arial"/>
              </a:defRPr>
            </a:defPPr>
            <a:lvl1pPr>
              <a:defRPr sz="2400" b="1">
                <a:solidFill>
                  <a:srgbClr val="243A45"/>
                </a:solidFill>
                <a:latin typeface="Arial"/>
                <a:ea typeface="Arial"/>
                <a:cs typeface="Arial"/>
              </a:defRPr>
            </a:lvl1pPr>
            <a:lvl2pPr>
              <a:defRPr sz="2400" b="1">
                <a:solidFill>
                  <a:srgbClr val="243A45"/>
                </a:solidFill>
                <a:latin typeface="Arial"/>
                <a:ea typeface="Arial"/>
                <a:cs typeface="Arial"/>
              </a:defRPr>
            </a:lvl2pPr>
            <a:lvl3pPr>
              <a:defRPr sz="2400" b="1">
                <a:solidFill>
                  <a:srgbClr val="243A45"/>
                </a:solidFill>
                <a:latin typeface="Arial"/>
                <a:ea typeface="Arial"/>
                <a:cs typeface="Arial"/>
              </a:defRPr>
            </a:lvl3pPr>
            <a:lvl4pPr>
              <a:defRPr sz="2400" b="1">
                <a:solidFill>
                  <a:srgbClr val="243A45"/>
                </a:solidFill>
                <a:latin typeface="Arial"/>
                <a:ea typeface="Arial"/>
                <a:cs typeface="Arial"/>
              </a:defRPr>
            </a:lvl4pPr>
            <a:lvl5pPr>
              <a:defRPr sz="2400" b="1">
                <a:solidFill>
                  <a:srgbClr val="243A45"/>
                </a:solidFill>
                <a:latin typeface="Arial"/>
                <a:ea typeface="Arial"/>
                <a:cs typeface="Arial"/>
              </a:defRPr>
            </a:lvl5pPr>
            <a:lvl6pPr>
              <a:defRPr sz="2400" b="1">
                <a:solidFill>
                  <a:srgbClr val="243A45"/>
                </a:solidFill>
                <a:latin typeface="Arial"/>
                <a:ea typeface="Arial"/>
                <a:cs typeface="Arial"/>
              </a:defRPr>
            </a:lvl6pPr>
            <a:lvl7pPr>
              <a:defRPr sz="2400" b="1">
                <a:solidFill>
                  <a:srgbClr val="243A45"/>
                </a:solidFill>
                <a:latin typeface="Arial"/>
                <a:ea typeface="Arial"/>
                <a:cs typeface="Arial"/>
              </a:defRPr>
            </a:lvl7pPr>
            <a:lvl8pPr>
              <a:defRPr sz="2400" b="1">
                <a:solidFill>
                  <a:srgbClr val="243A45"/>
                </a:solidFill>
                <a:latin typeface="Arial"/>
                <a:ea typeface="Arial"/>
                <a:cs typeface="Arial"/>
              </a:defRPr>
            </a:lvl8pPr>
            <a:lvl9pPr>
              <a:defRPr sz="2400" b="1">
                <a:solidFill>
                  <a:srgbClr val="243A45"/>
                </a:solidFill>
                <a:latin typeface="Arial"/>
                <a:ea typeface="Arial"/>
                <a:cs typeface="Arial"/>
              </a:defRPr>
            </a:lvl9pPr>
          </a:lstStyle>
          <a:p xmlns:a="http://schemas.openxmlformats.org/drawingml/2006/main">
            <a:pPr>
              <a:defRPr sz="2400" b="1">
                <a:solidFill>
                  <a:srgbClr val="243A45"/>
                </a:solidFill>
                <a:latin typeface="Arial"/>
                <a:ea typeface="Arial"/>
                <a:cs typeface="Arial"/>
              </a:defRPr>
            </a:pPr>
            <a:r>
              <a:rPr sz="2400" b="1">
                <a:solidFill>
                  <a:srgbClr val="243A45"/>
                </a:solidFill>
                <a:latin typeface="Arial"/>
                <a:ea typeface="Arial"/>
                <a:cs typeface="Arial"/>
              </a:rPr>
              <a:t>Do not open it or enter personal details.</a:t>
            </a:r>
          </a:p>
        </p:txBody>
      </p:sp>
      <p:sp>
        <p:nvSpPr>
          <p:cNvPr id="7" name="">
            <a:extLst xmlns:a="http://schemas.openxmlformats.org/drawingml/2006/main">
              <a:ext uri="{FF2B5EF4-FFF2-40B4-BE49-F238E27FC236}">
                <a16:creationId xmlns:a16="http://schemas.microsoft.com/office/drawing/2014/main" id="{12A33EF6-E3ED-4594-A231-6B8F44FBE6A7}"/>
              </a:ext>
            </a:extLst>
          </p:cNvPr>
          <p:cNvSpPr>
            <a:spLocks xmlns:a="http://schemas.openxmlformats.org/drawingml/2006/main" noGrp="1"/>
          </p:cNvSpPr>
          <p:nvPr/>
        </p:nvSpPr>
        <p:spPr>
          <a:xfrm xmlns:a="http://schemas.openxmlformats.org/drawingml/2006/main">
            <a:off x="666750" y="387667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79E8C"/>
                </a:solidFill>
                <a:latin typeface="Arial"/>
                <a:ea typeface="Arial"/>
                <a:cs typeface="Arial"/>
              </a:defRPr>
            </a:defPPr>
            <a:lvl1pPr>
              <a:defRPr sz="2100" b="0">
                <a:solidFill>
                  <a:srgbClr val="079E8C"/>
                </a:solidFill>
                <a:latin typeface="Arial"/>
                <a:ea typeface="Arial"/>
                <a:cs typeface="Arial"/>
              </a:defRPr>
            </a:lvl1pPr>
            <a:lvl2pPr>
              <a:defRPr sz="2100" b="0">
                <a:solidFill>
                  <a:srgbClr val="079E8C"/>
                </a:solidFill>
                <a:latin typeface="Arial"/>
                <a:ea typeface="Arial"/>
                <a:cs typeface="Arial"/>
              </a:defRPr>
            </a:lvl2pPr>
            <a:lvl3pPr>
              <a:defRPr sz="2100" b="0">
                <a:solidFill>
                  <a:srgbClr val="079E8C"/>
                </a:solidFill>
                <a:latin typeface="Arial"/>
                <a:ea typeface="Arial"/>
                <a:cs typeface="Arial"/>
              </a:defRPr>
            </a:lvl3pPr>
            <a:lvl4pPr>
              <a:defRPr sz="2100" b="0">
                <a:solidFill>
                  <a:srgbClr val="079E8C"/>
                </a:solidFill>
                <a:latin typeface="Arial"/>
                <a:ea typeface="Arial"/>
                <a:cs typeface="Arial"/>
              </a:defRPr>
            </a:lvl4pPr>
            <a:lvl5pPr>
              <a:defRPr sz="2100" b="0">
                <a:solidFill>
                  <a:srgbClr val="079E8C"/>
                </a:solidFill>
                <a:latin typeface="Arial"/>
                <a:ea typeface="Arial"/>
                <a:cs typeface="Arial"/>
              </a:defRPr>
            </a:lvl5pPr>
            <a:lvl6pPr>
              <a:defRPr sz="2100" b="0">
                <a:solidFill>
                  <a:srgbClr val="079E8C"/>
                </a:solidFill>
                <a:latin typeface="Arial"/>
                <a:ea typeface="Arial"/>
                <a:cs typeface="Arial"/>
              </a:defRPr>
            </a:lvl6pPr>
            <a:lvl7pPr>
              <a:defRPr sz="2100" b="0">
                <a:solidFill>
                  <a:srgbClr val="079E8C"/>
                </a:solidFill>
                <a:latin typeface="Arial"/>
                <a:ea typeface="Arial"/>
                <a:cs typeface="Arial"/>
              </a:defRPr>
            </a:lvl7pPr>
            <a:lvl8pPr>
              <a:defRPr sz="2100" b="0">
                <a:solidFill>
                  <a:srgbClr val="079E8C"/>
                </a:solidFill>
                <a:latin typeface="Arial"/>
                <a:ea typeface="Arial"/>
                <a:cs typeface="Arial"/>
              </a:defRPr>
            </a:lvl8pPr>
            <a:lvl9pPr>
              <a:defRPr sz="2100" b="0">
                <a:solidFill>
                  <a:srgbClr val="079E8C"/>
                </a:solidFill>
                <a:latin typeface="Arial"/>
                <a:ea typeface="Arial"/>
                <a:cs typeface="Arial"/>
              </a:defRPr>
            </a:lvl9pPr>
          </a:lstStyle>
          <a:p xmlns:a="http://schemas.openxmlformats.org/drawingml/2006/main">
            <a:pPr>
              <a:defRPr sz="2100" b="0">
                <a:solidFill>
                  <a:srgbClr val="079E8C"/>
                </a:solidFill>
                <a:latin typeface="Arial"/>
                <a:ea typeface="Arial"/>
                <a:cs typeface="Arial"/>
              </a:defRPr>
            </a:pPr>
            <a:r>
              <a:rPr sz="2100" b="0">
                <a:solidFill>
                  <a:srgbClr val="079E8C"/>
                </a:solidFill>
                <a:latin typeface="Arial"/>
                <a:ea typeface="Arial"/>
                <a:cs typeface="Arial"/>
              </a:rPr>
              <a:t>Use the company's official app instead.</a:t>
            </a:r>
          </a:p>
        </p:txBody>
      </p:sp>
    </p:spTree>
    <p:extLst>
      <p:ext uri="{BB962C8B-B14F-4D97-AF65-F5344CB8AC3E}">
        <p14:creationId xmlns:p14="http://schemas.microsoft.com/office/powerpoint/2010/main" val="12137361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B702EA0-820B-4BFA-9947-0679AF679302}"/>
              </a:ext>
            </a:extLst>
          </p:cNvPr>
          <p:cNvPicPr>
            <a:picLocks xmlns:a="http://schemas.openxmlformats.org/drawingml/2006/main" noChangeAspect="1"/>
          </p:cNvPicPr>
          <p:nvPr/>
        </p:nvPicPr>
        <p:blipFill>
          <a:blip xmlns:r="http://schemas.openxmlformats.org/officeDocument/2006/relationships" xmlns:a="http://schemas.openxmlformats.org/drawingml/2006/main" r:embed="R1711397a1b3d4633"/>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2C3036-4244-430F-BB76-4CDCD2B3AD7D}"/>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Built around trust</a:t>
            </a:r>
          </a:p>
        </p:txBody>
      </p:sp>
      <p:sp>
        <p:nvSpPr>
          <p:cNvPr id="3" name="">
            <a:extLst xmlns:a="http://schemas.openxmlformats.org/drawingml/2006/main">
              <a:ext uri="{FF2B5EF4-FFF2-40B4-BE49-F238E27FC236}">
                <a16:creationId xmlns:a16="http://schemas.microsoft.com/office/drawing/2014/main" id="{8DAAB9E9-CA2F-49EB-A61F-7FDA446CA123}"/>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0B114493-BDAF-45CD-B93B-3F9AAC72662F}"/>
              </a:ext>
            </a:extLst>
          </p:cNvPr>
          <p:cNvSpPr>
            <a:spLocks xmlns:a="http://schemas.openxmlformats.org/drawingml/2006/main" noGrp="1"/>
          </p:cNvSpPr>
          <p:nvPr/>
        </p:nvSpPr>
        <p:spPr>
          <a:xfrm xmlns:a="http://schemas.openxmlformats.org/drawingml/2006/main">
            <a:off x="590550" y="12001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18D4EF8-247A-4DC6-8B36-AE7C94258055}"/>
              </a:ext>
            </a:extLst>
          </p:cNvPr>
          <p:cNvSpPr>
            <a:spLocks xmlns:a="http://schemas.openxmlformats.org/drawingml/2006/main" noGrp="1"/>
          </p:cNvSpPr>
          <p:nvPr/>
        </p:nvSpPr>
        <p:spPr>
          <a:xfrm xmlns:a="http://schemas.openxmlformats.org/drawingml/2006/main">
            <a:off x="1190625" y="12001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Real model checks</a:t>
            </a:r>
          </a:p>
        </p:txBody>
      </p:sp>
      <p:sp>
        <p:nvSpPr>
          <p:cNvPr id="6" name="">
            <a:extLst xmlns:a="http://schemas.openxmlformats.org/drawingml/2006/main">
              <a:ext uri="{FF2B5EF4-FFF2-40B4-BE49-F238E27FC236}">
                <a16:creationId xmlns:a16="http://schemas.microsoft.com/office/drawing/2014/main" id="{2013B750-8B61-494F-AEC7-E9FB227F570A}"/>
              </a:ext>
            </a:extLst>
          </p:cNvPr>
          <p:cNvSpPr>
            <a:spLocks xmlns:a="http://schemas.openxmlformats.org/drawingml/2006/main" noGrp="1"/>
          </p:cNvSpPr>
          <p:nvPr/>
        </p:nvSpPr>
        <p:spPr>
          <a:xfrm xmlns:a="http://schemas.openxmlformats.org/drawingml/2006/main">
            <a:off x="1190625" y="158115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If the model cannot run, Maso returns an error</a:t>
            </a:r>
          </a:p>
        </p:txBody>
      </p:sp>
      <p:sp>
        <p:nvSpPr>
          <p:cNvPr id="7" name="">
            <a:extLst xmlns:a="http://schemas.openxmlformats.org/drawingml/2006/main">
              <a:ext uri="{FF2B5EF4-FFF2-40B4-BE49-F238E27FC236}">
                <a16:creationId xmlns:a16="http://schemas.microsoft.com/office/drawing/2014/main" id="{57FB98F5-D74A-401A-B71B-9DC797BFAF2D}"/>
              </a:ext>
            </a:extLst>
          </p:cNvPr>
          <p:cNvSpPr>
            <a:spLocks xmlns:a="http://schemas.openxmlformats.org/drawingml/2006/main" noGrp="1"/>
          </p:cNvSpPr>
          <p:nvPr/>
        </p:nvSpPr>
        <p:spPr>
          <a:xfrm xmlns:a="http://schemas.openxmlformats.org/drawingml/2006/main">
            <a:off x="590550" y="22669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370572B-5E7A-4AF0-8F3B-36A9241D5D45}"/>
              </a:ext>
            </a:extLst>
          </p:cNvPr>
          <p:cNvSpPr>
            <a:spLocks xmlns:a="http://schemas.openxmlformats.org/drawingml/2006/main" noGrp="1"/>
          </p:cNvSpPr>
          <p:nvPr/>
        </p:nvSpPr>
        <p:spPr>
          <a:xfrm xmlns:a="http://schemas.openxmlformats.org/drawingml/2006/main">
            <a:off x="1190625" y="22669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Visible evidence</a:t>
            </a:r>
          </a:p>
        </p:txBody>
      </p:sp>
      <p:sp>
        <p:nvSpPr>
          <p:cNvPr id="9" name="">
            <a:extLst xmlns:a="http://schemas.openxmlformats.org/drawingml/2006/main">
              <a:ext uri="{FF2B5EF4-FFF2-40B4-BE49-F238E27FC236}">
                <a16:creationId xmlns:a16="http://schemas.microsoft.com/office/drawing/2014/main" id="{D42E4724-4011-4849-8C4D-B6611E22EED1}"/>
              </a:ext>
            </a:extLst>
          </p:cNvPr>
          <p:cNvSpPr>
            <a:spLocks xmlns:a="http://schemas.openxmlformats.org/drawingml/2006/main" noGrp="1"/>
          </p:cNvSpPr>
          <p:nvPr/>
        </p:nvSpPr>
        <p:spPr>
          <a:xfrm xmlns:a="http://schemas.openxmlformats.org/drawingml/2006/main">
            <a:off x="1190625" y="264795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The result separates AI predictions from OpenPhish reports</a:t>
            </a:r>
          </a:p>
        </p:txBody>
      </p:sp>
      <p:sp>
        <p:nvSpPr>
          <p:cNvPr id="10" name="">
            <a:extLst xmlns:a="http://schemas.openxmlformats.org/drawingml/2006/main">
              <a:ext uri="{FF2B5EF4-FFF2-40B4-BE49-F238E27FC236}">
                <a16:creationId xmlns:a16="http://schemas.microsoft.com/office/drawing/2014/main" id="{D92BA103-7540-4750-8CEF-066DCAEB19FA}"/>
              </a:ext>
            </a:extLst>
          </p:cNvPr>
          <p:cNvSpPr>
            <a:spLocks xmlns:a="http://schemas.openxmlformats.org/drawingml/2006/main" noGrp="1"/>
          </p:cNvSpPr>
          <p:nvPr/>
        </p:nvSpPr>
        <p:spPr>
          <a:xfrm xmlns:a="http://schemas.openxmlformats.org/drawingml/2006/main">
            <a:off x="590550" y="33337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9CB27F1-53FB-46D4-B064-43F01CDDD52E}"/>
              </a:ext>
            </a:extLst>
          </p:cNvPr>
          <p:cNvSpPr>
            <a:spLocks xmlns:a="http://schemas.openxmlformats.org/drawingml/2006/main" noGrp="1"/>
          </p:cNvSpPr>
          <p:nvPr/>
        </p:nvSpPr>
        <p:spPr>
          <a:xfrm xmlns:a="http://schemas.openxmlformats.org/drawingml/2006/main">
            <a:off x="1190625" y="33337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Careful handling of content</a:t>
            </a:r>
          </a:p>
        </p:txBody>
      </p:sp>
      <p:sp>
        <p:nvSpPr>
          <p:cNvPr id="12" name="">
            <a:extLst xmlns:a="http://schemas.openxmlformats.org/drawingml/2006/main">
              <a:ext uri="{FF2B5EF4-FFF2-40B4-BE49-F238E27FC236}">
                <a16:creationId xmlns:a16="http://schemas.microsoft.com/office/drawing/2014/main" id="{BA069771-508A-4A40-8E2A-CAFFB66D7A11}"/>
              </a:ext>
            </a:extLst>
          </p:cNvPr>
          <p:cNvSpPr>
            <a:spLocks xmlns:a="http://schemas.openxmlformats.org/drawingml/2006/main" noGrp="1"/>
          </p:cNvSpPr>
          <p:nvPr/>
        </p:nvSpPr>
        <p:spPr>
          <a:xfrm xmlns:a="http://schemas.openxmlformats.org/drawingml/2006/main">
            <a:off x="1190625" y="371475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Server logs omit message text, submitted links and API keys</a:t>
            </a:r>
          </a:p>
        </p:txBody>
      </p:sp>
    </p:spTree>
    <p:extLst>
      <p:ext uri="{BB962C8B-B14F-4D97-AF65-F5344CB8AC3E}">
        <p14:creationId xmlns:p14="http://schemas.microsoft.com/office/powerpoint/2010/main" val="5079835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6573330-134D-491F-95F6-7291665B82AE}"/>
              </a:ext>
            </a:extLst>
          </p:cNvPr>
          <p:cNvPicPr>
            <a:picLocks xmlns:a="http://schemas.openxmlformats.org/drawingml/2006/main" noChangeAspect="1"/>
          </p:cNvPicPr>
          <p:nvPr/>
        </p:nvPicPr>
        <p:blipFill>
          <a:blip xmlns:r="http://schemas.openxmlformats.org/officeDocument/2006/relationships" xmlns:a="http://schemas.openxmlformats.org/drawingml/2006/main" r:embed="R93821cd62b0743b9"/>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1A1B1B-DF9B-4792-8FEB-8997447C1404}"/>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What we have demonstrated</a:t>
            </a:r>
          </a:p>
        </p:txBody>
      </p:sp>
      <p:sp>
        <p:nvSpPr>
          <p:cNvPr id="3" name="">
            <a:extLst xmlns:a="http://schemas.openxmlformats.org/drawingml/2006/main">
              <a:ext uri="{FF2B5EF4-FFF2-40B4-BE49-F238E27FC236}">
                <a16:creationId xmlns:a16="http://schemas.microsoft.com/office/drawing/2014/main" id="{850382D3-20E1-4821-85F5-B7248281EC13}"/>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3887F860-5CD2-4812-9141-4DAC5496D257}"/>
              </a:ext>
            </a:extLst>
          </p:cNvPr>
          <p:cNvSpPr>
            <a:spLocks xmlns:a="http://schemas.openxmlformats.org/drawingml/2006/main" noGrp="1"/>
          </p:cNvSpPr>
          <p:nvPr/>
        </p:nvSpPr>
        <p:spPr>
          <a:xfrm xmlns:a="http://schemas.openxmlformats.org/drawingml/2006/main">
            <a:off x="647700" y="1285875"/>
            <a:ext cx="762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850" b="1">
                <a:solidFill>
                  <a:srgbClr val="079E8C"/>
                </a:solidFill>
                <a:latin typeface="Arial"/>
                <a:ea typeface="Arial"/>
                <a:cs typeface="Arial"/>
              </a:defRPr>
            </a:defPPr>
            <a:lvl1pPr>
              <a:defRPr sz="5850" b="1">
                <a:solidFill>
                  <a:srgbClr val="079E8C"/>
                </a:solidFill>
                <a:latin typeface="Arial"/>
                <a:ea typeface="Arial"/>
                <a:cs typeface="Arial"/>
              </a:defRPr>
            </a:lvl1pPr>
            <a:lvl2pPr>
              <a:defRPr sz="5850" b="1">
                <a:solidFill>
                  <a:srgbClr val="079E8C"/>
                </a:solidFill>
                <a:latin typeface="Arial"/>
                <a:ea typeface="Arial"/>
                <a:cs typeface="Arial"/>
              </a:defRPr>
            </a:lvl2pPr>
            <a:lvl3pPr>
              <a:defRPr sz="5850" b="1">
                <a:solidFill>
                  <a:srgbClr val="079E8C"/>
                </a:solidFill>
                <a:latin typeface="Arial"/>
                <a:ea typeface="Arial"/>
                <a:cs typeface="Arial"/>
              </a:defRPr>
            </a:lvl3pPr>
            <a:lvl4pPr>
              <a:defRPr sz="5850" b="1">
                <a:solidFill>
                  <a:srgbClr val="079E8C"/>
                </a:solidFill>
                <a:latin typeface="Arial"/>
                <a:ea typeface="Arial"/>
                <a:cs typeface="Arial"/>
              </a:defRPr>
            </a:lvl4pPr>
            <a:lvl5pPr>
              <a:defRPr sz="5850" b="1">
                <a:solidFill>
                  <a:srgbClr val="079E8C"/>
                </a:solidFill>
                <a:latin typeface="Arial"/>
                <a:ea typeface="Arial"/>
                <a:cs typeface="Arial"/>
              </a:defRPr>
            </a:lvl5pPr>
            <a:lvl6pPr>
              <a:defRPr sz="5850" b="1">
                <a:solidFill>
                  <a:srgbClr val="079E8C"/>
                </a:solidFill>
                <a:latin typeface="Arial"/>
                <a:ea typeface="Arial"/>
                <a:cs typeface="Arial"/>
              </a:defRPr>
            </a:lvl6pPr>
            <a:lvl7pPr>
              <a:defRPr sz="5850" b="1">
                <a:solidFill>
                  <a:srgbClr val="079E8C"/>
                </a:solidFill>
                <a:latin typeface="Arial"/>
                <a:ea typeface="Arial"/>
                <a:cs typeface="Arial"/>
              </a:defRPr>
            </a:lvl7pPr>
            <a:lvl8pPr>
              <a:defRPr sz="5850" b="1">
                <a:solidFill>
                  <a:srgbClr val="079E8C"/>
                </a:solidFill>
                <a:latin typeface="Arial"/>
                <a:ea typeface="Arial"/>
                <a:cs typeface="Arial"/>
              </a:defRPr>
            </a:lvl8pPr>
            <a:lvl9pPr>
              <a:defRPr sz="5850" b="1">
                <a:solidFill>
                  <a:srgbClr val="079E8C"/>
                </a:solidFill>
                <a:latin typeface="Arial"/>
                <a:ea typeface="Arial"/>
                <a:cs typeface="Arial"/>
              </a:defRPr>
            </a:lvl9pPr>
          </a:lstStyle>
          <a:p xmlns:a="http://schemas.openxmlformats.org/drawingml/2006/main">
            <a:pPr>
              <a:defRPr sz="5850" b="1">
                <a:solidFill>
                  <a:srgbClr val="079E8C"/>
                </a:solidFill>
                <a:latin typeface="Arial"/>
                <a:ea typeface="Arial"/>
                <a:cs typeface="Arial"/>
              </a:defRPr>
            </a:pPr>
            <a:r>
              <a:rPr sz="5850" b="1">
                <a:solidFill>
                  <a:srgbClr val="079E8C"/>
                </a:solidFill>
                <a:latin typeface="Arial"/>
                <a:ea typeface="Arial"/>
                <a:cs typeface="Arial"/>
              </a:rPr>
              <a:t>300</a:t>
            </a:r>
          </a:p>
        </p:txBody>
      </p:sp>
      <p:sp>
        <p:nvSpPr>
          <p:cNvPr id="5" name="">
            <a:extLst xmlns:a="http://schemas.openxmlformats.org/drawingml/2006/main">
              <a:ext uri="{FF2B5EF4-FFF2-40B4-BE49-F238E27FC236}">
                <a16:creationId xmlns:a16="http://schemas.microsoft.com/office/drawing/2014/main" id="{F8078631-08CF-4168-AD1C-288C48F87DCC}"/>
              </a:ext>
            </a:extLst>
          </p:cNvPr>
          <p:cNvSpPr>
            <a:spLocks xmlns:a="http://schemas.openxmlformats.org/drawingml/2006/main" noGrp="1"/>
          </p:cNvSpPr>
          <p:nvPr/>
        </p:nvSpPr>
        <p:spPr>
          <a:xfrm xmlns:a="http://schemas.openxmlformats.org/drawingml/2006/main">
            <a:off x="666750" y="2314575"/>
            <a:ext cx="785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43A45"/>
                </a:solidFill>
                <a:latin typeface="Arial"/>
                <a:ea typeface="Arial"/>
                <a:cs typeface="Arial"/>
              </a:defRPr>
            </a:defPPr>
            <a:lvl1pPr>
              <a:defRPr sz="2025" b="0">
                <a:solidFill>
                  <a:srgbClr val="243A45"/>
                </a:solidFill>
                <a:latin typeface="Arial"/>
                <a:ea typeface="Arial"/>
                <a:cs typeface="Arial"/>
              </a:defRPr>
            </a:lvl1pPr>
            <a:lvl2pPr>
              <a:defRPr sz="2025" b="0">
                <a:solidFill>
                  <a:srgbClr val="243A45"/>
                </a:solidFill>
                <a:latin typeface="Arial"/>
                <a:ea typeface="Arial"/>
                <a:cs typeface="Arial"/>
              </a:defRPr>
            </a:lvl2pPr>
            <a:lvl3pPr>
              <a:defRPr sz="2025" b="0">
                <a:solidFill>
                  <a:srgbClr val="243A45"/>
                </a:solidFill>
                <a:latin typeface="Arial"/>
                <a:ea typeface="Arial"/>
                <a:cs typeface="Arial"/>
              </a:defRPr>
            </a:lvl3pPr>
            <a:lvl4pPr>
              <a:defRPr sz="2025" b="0">
                <a:solidFill>
                  <a:srgbClr val="243A45"/>
                </a:solidFill>
                <a:latin typeface="Arial"/>
                <a:ea typeface="Arial"/>
                <a:cs typeface="Arial"/>
              </a:defRPr>
            </a:lvl4pPr>
            <a:lvl5pPr>
              <a:defRPr sz="2025" b="0">
                <a:solidFill>
                  <a:srgbClr val="243A45"/>
                </a:solidFill>
                <a:latin typeface="Arial"/>
                <a:ea typeface="Arial"/>
                <a:cs typeface="Arial"/>
              </a:defRPr>
            </a:lvl5pPr>
            <a:lvl6pPr>
              <a:defRPr sz="2025" b="0">
                <a:solidFill>
                  <a:srgbClr val="243A45"/>
                </a:solidFill>
                <a:latin typeface="Arial"/>
                <a:ea typeface="Arial"/>
                <a:cs typeface="Arial"/>
              </a:defRPr>
            </a:lvl6pPr>
            <a:lvl7pPr>
              <a:defRPr sz="2025" b="0">
                <a:solidFill>
                  <a:srgbClr val="243A45"/>
                </a:solidFill>
                <a:latin typeface="Arial"/>
                <a:ea typeface="Arial"/>
                <a:cs typeface="Arial"/>
              </a:defRPr>
            </a:lvl7pPr>
            <a:lvl8pPr>
              <a:defRPr sz="2025" b="0">
                <a:solidFill>
                  <a:srgbClr val="243A45"/>
                </a:solidFill>
                <a:latin typeface="Arial"/>
                <a:ea typeface="Arial"/>
                <a:cs typeface="Arial"/>
              </a:defRPr>
            </a:lvl8pPr>
            <a:lvl9pPr>
              <a:defRPr sz="2025" b="0">
                <a:solidFill>
                  <a:srgbClr val="243A45"/>
                </a:solidFill>
                <a:latin typeface="Arial"/>
                <a:ea typeface="Arial"/>
                <a:cs typeface="Arial"/>
              </a:defRPr>
            </a:lvl9pPr>
          </a:lstStyle>
          <a:p xmlns:a="http://schemas.openxmlformats.org/drawingml/2006/main">
            <a:pPr>
              <a:defRPr sz="2025" b="0">
                <a:solidFill>
                  <a:srgbClr val="243A45"/>
                </a:solidFill>
                <a:latin typeface="Arial"/>
                <a:ea typeface="Arial"/>
                <a:cs typeface="Arial"/>
              </a:defRPr>
            </a:pPr>
            <a:r>
              <a:rPr sz="2025" b="0">
                <a:solidFill>
                  <a:srgbClr val="243A45"/>
                </a:solidFill>
                <a:latin typeface="Arial"/>
                <a:ea typeface="Arial"/>
                <a:cs typeface="Arial"/>
              </a:rPr>
              <a:t>reported links in the feed retrieved for our live test</a:t>
            </a:r>
          </a:p>
        </p:txBody>
      </p:sp>
      <p:sp>
        <p:nvSpPr>
          <p:cNvPr id="6" name="">
            <a:extLst xmlns:a="http://schemas.openxmlformats.org/drawingml/2006/main">
              <a:ext uri="{FF2B5EF4-FFF2-40B4-BE49-F238E27FC236}">
                <a16:creationId xmlns:a16="http://schemas.microsoft.com/office/drawing/2014/main" id="{08E83489-FDDD-4CB5-A399-6BED82203BE8}"/>
              </a:ext>
            </a:extLst>
          </p:cNvPr>
          <p:cNvSpPr>
            <a:spLocks xmlns:a="http://schemas.openxmlformats.org/drawingml/2006/main" noGrp="1"/>
          </p:cNvSpPr>
          <p:nvPr/>
        </p:nvSpPr>
        <p:spPr>
          <a:xfrm xmlns:a="http://schemas.openxmlformats.org/drawingml/2006/main">
            <a:off x="666750" y="3086100"/>
            <a:ext cx="7810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43A45"/>
                </a:solidFill>
                <a:latin typeface="Arial"/>
                <a:ea typeface="Arial"/>
                <a:cs typeface="Arial"/>
              </a:defRPr>
            </a:defPPr>
            <a:lvl1pPr>
              <a:defRPr sz="2025" b="0">
                <a:solidFill>
                  <a:srgbClr val="243A45"/>
                </a:solidFill>
                <a:latin typeface="Arial"/>
                <a:ea typeface="Arial"/>
                <a:cs typeface="Arial"/>
              </a:defRPr>
            </a:lvl1pPr>
            <a:lvl2pPr>
              <a:defRPr sz="2025" b="0">
                <a:solidFill>
                  <a:srgbClr val="243A45"/>
                </a:solidFill>
                <a:latin typeface="Arial"/>
                <a:ea typeface="Arial"/>
                <a:cs typeface="Arial"/>
              </a:defRPr>
            </a:lvl2pPr>
            <a:lvl3pPr>
              <a:defRPr sz="2025" b="0">
                <a:solidFill>
                  <a:srgbClr val="243A45"/>
                </a:solidFill>
                <a:latin typeface="Arial"/>
                <a:ea typeface="Arial"/>
                <a:cs typeface="Arial"/>
              </a:defRPr>
            </a:lvl3pPr>
            <a:lvl4pPr>
              <a:defRPr sz="2025" b="0">
                <a:solidFill>
                  <a:srgbClr val="243A45"/>
                </a:solidFill>
                <a:latin typeface="Arial"/>
                <a:ea typeface="Arial"/>
                <a:cs typeface="Arial"/>
              </a:defRPr>
            </a:lvl4pPr>
            <a:lvl5pPr>
              <a:defRPr sz="2025" b="0">
                <a:solidFill>
                  <a:srgbClr val="243A45"/>
                </a:solidFill>
                <a:latin typeface="Arial"/>
                <a:ea typeface="Arial"/>
                <a:cs typeface="Arial"/>
              </a:defRPr>
            </a:lvl5pPr>
            <a:lvl6pPr>
              <a:defRPr sz="2025" b="0">
                <a:solidFill>
                  <a:srgbClr val="243A45"/>
                </a:solidFill>
                <a:latin typeface="Arial"/>
                <a:ea typeface="Arial"/>
                <a:cs typeface="Arial"/>
              </a:defRPr>
            </a:lvl6pPr>
            <a:lvl7pPr>
              <a:defRPr sz="2025" b="0">
                <a:solidFill>
                  <a:srgbClr val="243A45"/>
                </a:solidFill>
                <a:latin typeface="Arial"/>
                <a:ea typeface="Arial"/>
                <a:cs typeface="Arial"/>
              </a:defRPr>
            </a:lvl7pPr>
            <a:lvl8pPr>
              <a:defRPr sz="2025" b="0">
                <a:solidFill>
                  <a:srgbClr val="243A45"/>
                </a:solidFill>
                <a:latin typeface="Arial"/>
                <a:ea typeface="Arial"/>
                <a:cs typeface="Arial"/>
              </a:defRPr>
            </a:lvl8pPr>
            <a:lvl9pPr>
              <a:defRPr sz="2025" b="0">
                <a:solidFill>
                  <a:srgbClr val="243A45"/>
                </a:solidFill>
                <a:latin typeface="Arial"/>
                <a:ea typeface="Arial"/>
                <a:cs typeface="Arial"/>
              </a:defRPr>
            </a:lvl9pPr>
          </a:lstStyle>
          <a:p xmlns:a="http://schemas.openxmlformats.org/drawingml/2006/main">
            <a:pPr>
              <a:defRPr sz="2025" b="0">
                <a:solidFill>
                  <a:srgbClr val="243A45"/>
                </a:solidFill>
                <a:latin typeface="Arial"/>
                <a:ea typeface="Arial"/>
                <a:cs typeface="Arial"/>
              </a:defRPr>
            </a:pPr>
            <a:r>
              <a:rPr sz="2025" b="0">
                <a:solidFill>
                  <a:srgbClr val="243A45"/>
                </a:solidFill>
                <a:latin typeface="Arial"/>
                <a:ea typeface="Arial"/>
                <a:cs typeface="Arial"/>
              </a:rPr>
              <a:t>Reported test link detected</a:t>
            </a:r>
          </a:p>
          <a:p xmlns:a="http://schemas.openxmlformats.org/drawingml/2006/main">
            <a:pPr>
              <a:defRPr sz="2025" b="0">
                <a:solidFill>
                  <a:srgbClr val="243A45"/>
                </a:solidFill>
                <a:latin typeface="Arial"/>
                <a:ea typeface="Arial"/>
                <a:cs typeface="Arial"/>
              </a:defRPr>
            </a:pPr>
            <a:r>
              <a:rPr sz="2025" b="0">
                <a:solidFill>
                  <a:srgbClr val="243A45"/>
                </a:solidFill>
                <a:latin typeface="Arial"/>
                <a:ea typeface="Arial"/>
                <a:cs typeface="Arial"/>
              </a:rPr>
              <a:t>Normal control link returned no feed match</a:t>
            </a:r>
          </a:p>
          <a:p xmlns:a="http://schemas.openxmlformats.org/drawingml/2006/main">
            <a:pPr>
              <a:defRPr sz="2025" b="0">
                <a:solidFill>
                  <a:srgbClr val="243A45"/>
                </a:solidFill>
                <a:latin typeface="Arial"/>
                <a:ea typeface="Arial"/>
                <a:cs typeface="Arial"/>
              </a:defRPr>
            </a:pPr>
            <a:r>
              <a:rPr sz="2025" b="0">
                <a:solidFill>
                  <a:srgbClr val="243A45"/>
                </a:solidFill>
                <a:latin typeface="Arial"/>
                <a:ea typeface="Arial"/>
                <a:cs typeface="Arial"/>
              </a:rPr>
              <a:t>AI and OpenPhish completed through the public demo link</a:t>
            </a:r>
          </a:p>
        </p:txBody>
      </p:sp>
      <p:sp>
        <p:nvSpPr>
          <p:cNvPr id="7" name="">
            <a:extLst xmlns:a="http://schemas.openxmlformats.org/drawingml/2006/main">
              <a:ext uri="{FF2B5EF4-FFF2-40B4-BE49-F238E27FC236}">
                <a16:creationId xmlns:a16="http://schemas.microsoft.com/office/drawing/2014/main" id="{34C7168E-C363-4F11-930C-6237733CC9B0}"/>
              </a:ext>
            </a:extLst>
          </p:cNvPr>
          <p:cNvSpPr>
            <a:spLocks xmlns:a="http://schemas.openxmlformats.org/drawingml/2006/main" noGrp="1"/>
          </p:cNvSpPr>
          <p:nvPr/>
        </p:nvSpPr>
        <p:spPr>
          <a:xfrm xmlns:a="http://schemas.openxmlformats.org/drawingml/2006/main">
            <a:off x="666750" y="442912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86772"/>
                </a:solidFill>
                <a:latin typeface="Arial"/>
                <a:ea typeface="Arial"/>
                <a:cs typeface="Arial"/>
              </a:defRPr>
            </a:defPPr>
            <a:lvl1pPr>
              <a:defRPr sz="1200" b="0">
                <a:solidFill>
                  <a:srgbClr val="586772"/>
                </a:solidFill>
                <a:latin typeface="Arial"/>
                <a:ea typeface="Arial"/>
                <a:cs typeface="Arial"/>
              </a:defRPr>
            </a:lvl1pPr>
            <a:lvl2pPr>
              <a:defRPr sz="1200" b="0">
                <a:solidFill>
                  <a:srgbClr val="586772"/>
                </a:solidFill>
                <a:latin typeface="Arial"/>
                <a:ea typeface="Arial"/>
                <a:cs typeface="Arial"/>
              </a:defRPr>
            </a:lvl2pPr>
            <a:lvl3pPr>
              <a:defRPr sz="1200" b="0">
                <a:solidFill>
                  <a:srgbClr val="586772"/>
                </a:solidFill>
                <a:latin typeface="Arial"/>
                <a:ea typeface="Arial"/>
                <a:cs typeface="Arial"/>
              </a:defRPr>
            </a:lvl3pPr>
            <a:lvl4pPr>
              <a:defRPr sz="1200" b="0">
                <a:solidFill>
                  <a:srgbClr val="586772"/>
                </a:solidFill>
                <a:latin typeface="Arial"/>
                <a:ea typeface="Arial"/>
                <a:cs typeface="Arial"/>
              </a:defRPr>
            </a:lvl4pPr>
            <a:lvl5pPr>
              <a:defRPr sz="1200" b="0">
                <a:solidFill>
                  <a:srgbClr val="586772"/>
                </a:solidFill>
                <a:latin typeface="Arial"/>
                <a:ea typeface="Arial"/>
                <a:cs typeface="Arial"/>
              </a:defRPr>
            </a:lvl5pPr>
            <a:lvl6pPr>
              <a:defRPr sz="1200" b="0">
                <a:solidFill>
                  <a:srgbClr val="586772"/>
                </a:solidFill>
                <a:latin typeface="Arial"/>
                <a:ea typeface="Arial"/>
                <a:cs typeface="Arial"/>
              </a:defRPr>
            </a:lvl6pPr>
            <a:lvl7pPr>
              <a:defRPr sz="1200" b="0">
                <a:solidFill>
                  <a:srgbClr val="586772"/>
                </a:solidFill>
                <a:latin typeface="Arial"/>
                <a:ea typeface="Arial"/>
                <a:cs typeface="Arial"/>
              </a:defRPr>
            </a:lvl7pPr>
            <a:lvl8pPr>
              <a:defRPr sz="1200" b="0">
                <a:solidFill>
                  <a:srgbClr val="586772"/>
                </a:solidFill>
                <a:latin typeface="Arial"/>
                <a:ea typeface="Arial"/>
                <a:cs typeface="Arial"/>
              </a:defRPr>
            </a:lvl8pPr>
            <a:lvl9pPr>
              <a:defRPr sz="1200" b="0">
                <a:solidFill>
                  <a:srgbClr val="586772"/>
                </a:solidFill>
                <a:latin typeface="Arial"/>
                <a:ea typeface="Arial"/>
                <a:cs typeface="Arial"/>
              </a:defRPr>
            </a:lvl9pPr>
          </a:lstStyle>
          <a:p xmlns:a="http://schemas.openxmlformats.org/drawingml/2006/main">
            <a:pPr>
              <a:defRPr sz="1200" b="0">
                <a:solidFill>
                  <a:srgbClr val="586772"/>
                </a:solidFill>
                <a:latin typeface="Arial"/>
                <a:ea typeface="Arial"/>
                <a:cs typeface="Arial"/>
              </a:defRPr>
            </a:pPr>
            <a:r>
              <a:rPr sz="1200" b="0">
                <a:solidFill>
                  <a:srgbClr val="586772"/>
                </a:solidFill>
                <a:latin typeface="Arial"/>
                <a:ea typeface="Arial"/>
                <a:cs typeface="Arial"/>
              </a:rPr>
              <a:t>Functional verification on 19 October 2026. Accuracy needs separate testing.</a:t>
            </a:r>
          </a:p>
        </p:txBody>
      </p:sp>
    </p:spTree>
    <p:extLst>
      <p:ext uri="{BB962C8B-B14F-4D97-AF65-F5344CB8AC3E}">
        <p14:creationId xmlns:p14="http://schemas.microsoft.com/office/powerpoint/2010/main" val="7736486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71A9448-B307-4272-A380-0A9F73601E24}"/>
              </a:ext>
            </a:extLst>
          </p:cNvPr>
          <p:cNvPicPr>
            <a:picLocks xmlns:a="http://schemas.openxmlformats.org/drawingml/2006/main" noChangeAspect="1"/>
          </p:cNvPicPr>
          <p:nvPr/>
        </p:nvPicPr>
        <p:blipFill>
          <a:blip xmlns:r="http://schemas.openxmlformats.org/officeDocument/2006/relationships" xmlns:a="http://schemas.openxmlformats.org/drawingml/2006/main" r:embed="Rad0b1f9416e64f3a"/>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9E83E41-5E90-4B11-B4EC-D6BA423C5C92}"/>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The live demonstration</a:t>
            </a:r>
          </a:p>
        </p:txBody>
      </p:sp>
      <p:sp>
        <p:nvSpPr>
          <p:cNvPr id="3" name="">
            <a:extLst xmlns:a="http://schemas.openxmlformats.org/drawingml/2006/main">
              <a:ext uri="{FF2B5EF4-FFF2-40B4-BE49-F238E27FC236}">
                <a16:creationId xmlns:a16="http://schemas.microsoft.com/office/drawing/2014/main" id="{A0078940-DAA6-4661-8D93-49BE66734302}"/>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6907C996-3137-48F2-9518-3B5BAAC4A068}"/>
              </a:ext>
            </a:extLst>
          </p:cNvPr>
          <p:cNvSpPr>
            <a:spLocks xmlns:a="http://schemas.openxmlformats.org/drawingml/2006/main" noGrp="1"/>
          </p:cNvSpPr>
          <p:nvPr/>
        </p:nvSpPr>
        <p:spPr>
          <a:xfrm xmlns:a="http://schemas.openxmlformats.org/drawingml/2006/main">
            <a:off x="590550" y="11620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6F80890-C3B5-44B8-B4D5-2DE544D5E07F}"/>
              </a:ext>
            </a:extLst>
          </p:cNvPr>
          <p:cNvSpPr>
            <a:spLocks xmlns:a="http://schemas.openxmlformats.org/drawingml/2006/main" noGrp="1"/>
          </p:cNvSpPr>
          <p:nvPr/>
        </p:nvSpPr>
        <p:spPr>
          <a:xfrm xmlns:a="http://schemas.openxmlformats.org/drawingml/2006/main">
            <a:off x="1190625" y="11620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An ordinary message</a:t>
            </a:r>
          </a:p>
        </p:txBody>
      </p:sp>
      <p:sp>
        <p:nvSpPr>
          <p:cNvPr id="6" name="">
            <a:extLst xmlns:a="http://schemas.openxmlformats.org/drawingml/2006/main">
              <a:ext uri="{FF2B5EF4-FFF2-40B4-BE49-F238E27FC236}">
                <a16:creationId xmlns:a16="http://schemas.microsoft.com/office/drawing/2014/main" id="{873CF1C9-89DD-40F7-B5CB-F6A6A341195B}"/>
              </a:ext>
            </a:extLst>
          </p:cNvPr>
          <p:cNvSpPr>
            <a:spLocks xmlns:a="http://schemas.openxmlformats.org/drawingml/2006/main" noGrp="1"/>
          </p:cNvSpPr>
          <p:nvPr/>
        </p:nvSpPr>
        <p:spPr>
          <a:xfrm xmlns:a="http://schemas.openxmlformats.org/drawingml/2006/main">
            <a:off x="1190625" y="154305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Show a check on a familiar, low-risk example</a:t>
            </a:r>
          </a:p>
        </p:txBody>
      </p:sp>
      <p:sp>
        <p:nvSpPr>
          <p:cNvPr id="7" name="">
            <a:extLst xmlns:a="http://schemas.openxmlformats.org/drawingml/2006/main">
              <a:ext uri="{FF2B5EF4-FFF2-40B4-BE49-F238E27FC236}">
                <a16:creationId xmlns:a16="http://schemas.microsoft.com/office/drawing/2014/main" id="{62FD21AC-D7F4-4644-926B-DF76C221EFBD}"/>
              </a:ext>
            </a:extLst>
          </p:cNvPr>
          <p:cNvSpPr>
            <a:spLocks xmlns:a="http://schemas.openxmlformats.org/drawingml/2006/main" noGrp="1"/>
          </p:cNvSpPr>
          <p:nvPr/>
        </p:nvSpPr>
        <p:spPr>
          <a:xfrm xmlns:a="http://schemas.openxmlformats.org/drawingml/2006/main">
            <a:off x="590550" y="21526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7874A25-C1B8-4D16-86BB-A38911BEBAA7}"/>
              </a:ext>
            </a:extLst>
          </p:cNvPr>
          <p:cNvSpPr>
            <a:spLocks xmlns:a="http://schemas.openxmlformats.org/drawingml/2006/main" noGrp="1"/>
          </p:cNvSpPr>
          <p:nvPr/>
        </p:nvSpPr>
        <p:spPr>
          <a:xfrm xmlns:a="http://schemas.openxmlformats.org/drawingml/2006/main">
            <a:off x="1190625" y="21526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A suspicious request</a:t>
            </a:r>
          </a:p>
        </p:txBody>
      </p:sp>
      <p:sp>
        <p:nvSpPr>
          <p:cNvPr id="9" name="">
            <a:extLst xmlns:a="http://schemas.openxmlformats.org/drawingml/2006/main">
              <a:ext uri="{FF2B5EF4-FFF2-40B4-BE49-F238E27FC236}">
                <a16:creationId xmlns:a16="http://schemas.microsoft.com/office/drawing/2014/main" id="{500928B2-C175-45F6-AEB7-7B93DF03D2E6}"/>
              </a:ext>
            </a:extLst>
          </p:cNvPr>
          <p:cNvSpPr>
            <a:spLocks xmlns:a="http://schemas.openxmlformats.org/drawingml/2006/main" noGrp="1"/>
          </p:cNvSpPr>
          <p:nvPr/>
        </p:nvSpPr>
        <p:spPr>
          <a:xfrm xmlns:a="http://schemas.openxmlformats.org/drawingml/2006/main">
            <a:off x="1190625" y="253365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Show the warning and the recommended next step</a:t>
            </a:r>
          </a:p>
        </p:txBody>
      </p:sp>
      <p:sp>
        <p:nvSpPr>
          <p:cNvPr id="10" name="">
            <a:extLst xmlns:a="http://schemas.openxmlformats.org/drawingml/2006/main">
              <a:ext uri="{FF2B5EF4-FFF2-40B4-BE49-F238E27FC236}">
                <a16:creationId xmlns:a16="http://schemas.microsoft.com/office/drawing/2014/main" id="{9A309F75-9D19-4547-A8E5-D0219ED0DFCB}"/>
              </a:ext>
            </a:extLst>
          </p:cNvPr>
          <p:cNvSpPr>
            <a:spLocks xmlns:a="http://schemas.openxmlformats.org/drawingml/2006/main" noGrp="1"/>
          </p:cNvSpPr>
          <p:nvPr/>
        </p:nvSpPr>
        <p:spPr>
          <a:xfrm xmlns:a="http://schemas.openxmlformats.org/drawingml/2006/main">
            <a:off x="590550" y="31432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CAD3301-762D-4ED7-8884-AAAA7B3A38E5}"/>
              </a:ext>
            </a:extLst>
          </p:cNvPr>
          <p:cNvSpPr>
            <a:spLocks xmlns:a="http://schemas.openxmlformats.org/drawingml/2006/main" noGrp="1"/>
          </p:cNvSpPr>
          <p:nvPr/>
        </p:nvSpPr>
        <p:spPr>
          <a:xfrm xmlns:a="http://schemas.openxmlformats.org/drawingml/2006/main">
            <a:off x="1190625" y="31432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A reported link or QR image</a:t>
            </a:r>
          </a:p>
        </p:txBody>
      </p:sp>
      <p:sp>
        <p:nvSpPr>
          <p:cNvPr id="12" name="">
            <a:extLst xmlns:a="http://schemas.openxmlformats.org/drawingml/2006/main">
              <a:ext uri="{FF2B5EF4-FFF2-40B4-BE49-F238E27FC236}">
                <a16:creationId xmlns:a16="http://schemas.microsoft.com/office/drawing/2014/main" id="{CC13AD94-2071-4B88-806F-147D60D30643}"/>
              </a:ext>
            </a:extLst>
          </p:cNvPr>
          <p:cNvSpPr>
            <a:spLocks xmlns:a="http://schemas.openxmlformats.org/drawingml/2006/main" noGrp="1"/>
          </p:cNvSpPr>
          <p:nvPr/>
        </p:nvSpPr>
        <p:spPr>
          <a:xfrm xmlns:a="http://schemas.openxmlformats.org/drawingml/2006/main">
            <a:off x="1190625" y="352425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Confirm that the result names OpenPhish</a:t>
            </a:r>
          </a:p>
        </p:txBody>
      </p:sp>
      <p:sp>
        <p:nvSpPr>
          <p:cNvPr id="13" name="">
            <a:extLst xmlns:a="http://schemas.openxmlformats.org/drawingml/2006/main">
              <a:ext uri="{FF2B5EF4-FFF2-40B4-BE49-F238E27FC236}">
                <a16:creationId xmlns:a16="http://schemas.microsoft.com/office/drawing/2014/main" id="{4CE0B465-4A07-400F-A83B-55C74BDD2038}"/>
              </a:ext>
            </a:extLst>
          </p:cNvPr>
          <p:cNvSpPr>
            <a:spLocks xmlns:a="http://schemas.openxmlformats.org/drawingml/2006/main" noGrp="1"/>
          </p:cNvSpPr>
          <p:nvPr/>
        </p:nvSpPr>
        <p:spPr>
          <a:xfrm xmlns:a="http://schemas.openxmlformats.org/drawingml/2006/main">
            <a:off x="628650" y="4410075"/>
            <a:ext cx="785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3263B"/>
                </a:solidFill>
                <a:latin typeface="Arial"/>
                <a:ea typeface="Arial"/>
                <a:cs typeface="Arial"/>
              </a:defRPr>
            </a:defPPr>
            <a:lvl1pPr>
              <a:defRPr sz="1500" b="0">
                <a:solidFill>
                  <a:srgbClr val="B3263B"/>
                </a:solidFill>
                <a:latin typeface="Arial"/>
                <a:ea typeface="Arial"/>
                <a:cs typeface="Arial"/>
              </a:defRPr>
            </a:lvl1pPr>
            <a:lvl2pPr>
              <a:defRPr sz="1500" b="0">
                <a:solidFill>
                  <a:srgbClr val="B3263B"/>
                </a:solidFill>
                <a:latin typeface="Arial"/>
                <a:ea typeface="Arial"/>
                <a:cs typeface="Arial"/>
              </a:defRPr>
            </a:lvl2pPr>
            <a:lvl3pPr>
              <a:defRPr sz="1500" b="0">
                <a:solidFill>
                  <a:srgbClr val="B3263B"/>
                </a:solidFill>
                <a:latin typeface="Arial"/>
                <a:ea typeface="Arial"/>
                <a:cs typeface="Arial"/>
              </a:defRPr>
            </a:lvl3pPr>
            <a:lvl4pPr>
              <a:defRPr sz="1500" b="0">
                <a:solidFill>
                  <a:srgbClr val="B3263B"/>
                </a:solidFill>
                <a:latin typeface="Arial"/>
                <a:ea typeface="Arial"/>
                <a:cs typeface="Arial"/>
              </a:defRPr>
            </a:lvl4pPr>
            <a:lvl5pPr>
              <a:defRPr sz="1500" b="0">
                <a:solidFill>
                  <a:srgbClr val="B3263B"/>
                </a:solidFill>
                <a:latin typeface="Arial"/>
                <a:ea typeface="Arial"/>
                <a:cs typeface="Arial"/>
              </a:defRPr>
            </a:lvl5pPr>
            <a:lvl6pPr>
              <a:defRPr sz="1500" b="0">
                <a:solidFill>
                  <a:srgbClr val="B3263B"/>
                </a:solidFill>
                <a:latin typeface="Arial"/>
                <a:ea typeface="Arial"/>
                <a:cs typeface="Arial"/>
              </a:defRPr>
            </a:lvl6pPr>
            <a:lvl7pPr>
              <a:defRPr sz="1500" b="0">
                <a:solidFill>
                  <a:srgbClr val="B3263B"/>
                </a:solidFill>
                <a:latin typeface="Arial"/>
                <a:ea typeface="Arial"/>
                <a:cs typeface="Arial"/>
              </a:defRPr>
            </a:lvl7pPr>
            <a:lvl8pPr>
              <a:defRPr sz="1500" b="0">
                <a:solidFill>
                  <a:srgbClr val="B3263B"/>
                </a:solidFill>
                <a:latin typeface="Arial"/>
                <a:ea typeface="Arial"/>
                <a:cs typeface="Arial"/>
              </a:defRPr>
            </a:lvl8pPr>
            <a:lvl9pPr>
              <a:defRPr sz="1500" b="0">
                <a:solidFill>
                  <a:srgbClr val="B3263B"/>
                </a:solidFill>
                <a:latin typeface="Arial"/>
                <a:ea typeface="Arial"/>
                <a:cs typeface="Arial"/>
              </a:defRPr>
            </a:lvl9pPr>
          </a:lstStyle>
          <a:p xmlns:a="http://schemas.openxmlformats.org/drawingml/2006/main">
            <a:pPr>
              <a:defRPr sz="1500" b="0">
                <a:solidFill>
                  <a:srgbClr val="B3263B"/>
                </a:solidFill>
                <a:latin typeface="Arial"/>
                <a:ea typeface="Arial"/>
                <a:cs typeface="Arial"/>
              </a:defRPr>
            </a:pPr>
            <a:r>
              <a:rPr sz="1500" b="0">
                <a:solidFill>
                  <a:srgbClr val="B3263B"/>
                </a:solidFill>
                <a:latin typeface="Arial"/>
                <a:ea typeface="Arial"/>
                <a:cs typeface="Arial"/>
              </a:rPr>
              <a:t>Reported phishing links go into Maso only. Never open them.</a:t>
            </a:r>
          </a:p>
        </p:txBody>
      </p:sp>
    </p:spTree>
    <p:extLst>
      <p:ext uri="{BB962C8B-B14F-4D97-AF65-F5344CB8AC3E}">
        <p14:creationId xmlns:p14="http://schemas.microsoft.com/office/powerpoint/2010/main" val="4705680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FD70EFF-5872-453F-ABDD-5A3E4949A32E}"/>
              </a:ext>
            </a:extLst>
          </p:cNvPr>
          <p:cNvPicPr>
            <a:picLocks xmlns:a="http://schemas.openxmlformats.org/drawingml/2006/main" noChangeAspect="1"/>
          </p:cNvPicPr>
          <p:nvPr/>
        </p:nvPicPr>
        <p:blipFill>
          <a:blip xmlns:r="http://schemas.openxmlformats.org/officeDocument/2006/relationships" xmlns:a="http://schemas.openxmlformats.org/drawingml/2006/main" r:embed="Ra382153d8bb74bc2"/>
          <a:stretch xmlns:a="http://schemas.openxmlformats.org/drawingml/2006/main"/>
        </p:blipFill>
        <p:spPr>
          <a:xfrm xmlns:a="http://schemas.openxmlformats.org/drawingml/2006/main">
            <a:off x="0" y="4687193"/>
            <a:ext cx="9144000" cy="45541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F6DCE4A-3650-4796-99BB-58128C1530CA}"/>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79E8C"/>
                </a:solidFill>
                <a:latin typeface="Arial"/>
                <a:ea typeface="Arial"/>
                <a:cs typeface="Arial"/>
              </a:defRPr>
            </a:defPPr>
            <a:lvl1pPr>
              <a:defRPr sz="3150" b="1">
                <a:solidFill>
                  <a:srgbClr val="079E8C"/>
                </a:solidFill>
                <a:latin typeface="Arial"/>
                <a:ea typeface="Arial"/>
                <a:cs typeface="Arial"/>
              </a:defRPr>
            </a:lvl1pPr>
            <a:lvl2pPr>
              <a:defRPr sz="3150" b="1">
                <a:solidFill>
                  <a:srgbClr val="079E8C"/>
                </a:solidFill>
                <a:latin typeface="Arial"/>
                <a:ea typeface="Arial"/>
                <a:cs typeface="Arial"/>
              </a:defRPr>
            </a:lvl2pPr>
            <a:lvl3pPr>
              <a:defRPr sz="3150" b="1">
                <a:solidFill>
                  <a:srgbClr val="079E8C"/>
                </a:solidFill>
                <a:latin typeface="Arial"/>
                <a:ea typeface="Arial"/>
                <a:cs typeface="Arial"/>
              </a:defRPr>
            </a:lvl3pPr>
            <a:lvl4pPr>
              <a:defRPr sz="3150" b="1">
                <a:solidFill>
                  <a:srgbClr val="079E8C"/>
                </a:solidFill>
                <a:latin typeface="Arial"/>
                <a:ea typeface="Arial"/>
                <a:cs typeface="Arial"/>
              </a:defRPr>
            </a:lvl4pPr>
            <a:lvl5pPr>
              <a:defRPr sz="3150" b="1">
                <a:solidFill>
                  <a:srgbClr val="079E8C"/>
                </a:solidFill>
                <a:latin typeface="Arial"/>
                <a:ea typeface="Arial"/>
                <a:cs typeface="Arial"/>
              </a:defRPr>
            </a:lvl5pPr>
            <a:lvl6pPr>
              <a:defRPr sz="3150" b="1">
                <a:solidFill>
                  <a:srgbClr val="079E8C"/>
                </a:solidFill>
                <a:latin typeface="Arial"/>
                <a:ea typeface="Arial"/>
                <a:cs typeface="Arial"/>
              </a:defRPr>
            </a:lvl6pPr>
            <a:lvl7pPr>
              <a:defRPr sz="3150" b="1">
                <a:solidFill>
                  <a:srgbClr val="079E8C"/>
                </a:solidFill>
                <a:latin typeface="Arial"/>
                <a:ea typeface="Arial"/>
                <a:cs typeface="Arial"/>
              </a:defRPr>
            </a:lvl7pPr>
            <a:lvl8pPr>
              <a:defRPr sz="3150" b="1">
                <a:solidFill>
                  <a:srgbClr val="079E8C"/>
                </a:solidFill>
                <a:latin typeface="Arial"/>
                <a:ea typeface="Arial"/>
                <a:cs typeface="Arial"/>
              </a:defRPr>
            </a:lvl8pPr>
            <a:lvl9pPr>
              <a:defRPr sz="3150" b="1">
                <a:solidFill>
                  <a:srgbClr val="079E8C"/>
                </a:solidFill>
                <a:latin typeface="Arial"/>
                <a:ea typeface="Arial"/>
                <a:cs typeface="Arial"/>
              </a:defRPr>
            </a:lvl9pPr>
          </a:lstStyle>
          <a:p xmlns:a="http://schemas.openxmlformats.org/drawingml/2006/main">
            <a:pPr>
              <a:defRPr sz="3150" b="1">
                <a:solidFill>
                  <a:srgbClr val="079E8C"/>
                </a:solidFill>
                <a:latin typeface="Arial"/>
                <a:ea typeface="Arial"/>
                <a:cs typeface="Arial"/>
              </a:defRPr>
            </a:pPr>
            <a:r>
              <a:rPr sz="3150" b="1">
                <a:solidFill>
                  <a:srgbClr val="079E8C"/>
                </a:solidFill>
                <a:latin typeface="Arial"/>
                <a:ea typeface="Arial"/>
                <a:cs typeface="Arial"/>
              </a:rPr>
              <a:t>What comes next</a:t>
            </a:r>
          </a:p>
        </p:txBody>
      </p:sp>
      <p:sp>
        <p:nvSpPr>
          <p:cNvPr id="3" name="">
            <a:extLst xmlns:a="http://schemas.openxmlformats.org/drawingml/2006/main">
              <a:ext uri="{FF2B5EF4-FFF2-40B4-BE49-F238E27FC236}">
                <a16:creationId xmlns:a16="http://schemas.microsoft.com/office/drawing/2014/main" id="{8FAB7885-6495-46BA-8D86-EFE5B315CFFB}"/>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0554CF9B-5DD5-4B79-B0D6-FE371350252B}"/>
              </a:ext>
            </a:extLst>
          </p:cNvPr>
          <p:cNvSpPr>
            <a:spLocks xmlns:a="http://schemas.openxmlformats.org/drawingml/2006/main" noGrp="1"/>
          </p:cNvSpPr>
          <p:nvPr/>
        </p:nvSpPr>
        <p:spPr>
          <a:xfrm xmlns:a="http://schemas.openxmlformats.org/drawingml/2006/main">
            <a:off x="590550" y="12001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899A90B-D54B-409A-829E-C0731B49C629}"/>
              </a:ext>
            </a:extLst>
          </p:cNvPr>
          <p:cNvSpPr>
            <a:spLocks xmlns:a="http://schemas.openxmlformats.org/drawingml/2006/main" noGrp="1"/>
          </p:cNvSpPr>
          <p:nvPr/>
        </p:nvSpPr>
        <p:spPr>
          <a:xfrm xmlns:a="http://schemas.openxmlformats.org/drawingml/2006/main">
            <a:off x="1190625" y="12001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Measure detection accuracy</a:t>
            </a:r>
          </a:p>
        </p:txBody>
      </p:sp>
      <p:sp>
        <p:nvSpPr>
          <p:cNvPr id="6" name="">
            <a:extLst xmlns:a="http://schemas.openxmlformats.org/drawingml/2006/main">
              <a:ext uri="{FF2B5EF4-FFF2-40B4-BE49-F238E27FC236}">
                <a16:creationId xmlns:a16="http://schemas.microsoft.com/office/drawing/2014/main" id="{C9302990-1F44-4E16-B5CC-90FD976C83B1}"/>
              </a:ext>
            </a:extLst>
          </p:cNvPr>
          <p:cNvSpPr>
            <a:spLocks xmlns:a="http://schemas.openxmlformats.org/drawingml/2006/main" noGrp="1"/>
          </p:cNvSpPr>
          <p:nvPr/>
        </p:nvSpPr>
        <p:spPr>
          <a:xfrm xmlns:a="http://schemas.openxmlformats.org/drawingml/2006/main">
            <a:off x="1190625" y="158115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Use a separate set of real scam and ordinary examples</a:t>
            </a:r>
          </a:p>
        </p:txBody>
      </p:sp>
      <p:sp>
        <p:nvSpPr>
          <p:cNvPr id="7" name="">
            <a:extLst xmlns:a="http://schemas.openxmlformats.org/drawingml/2006/main">
              <a:ext uri="{FF2B5EF4-FFF2-40B4-BE49-F238E27FC236}">
                <a16:creationId xmlns:a16="http://schemas.microsoft.com/office/drawing/2014/main" id="{34FE51BC-B46A-4AE2-B675-9C2D9ED73913}"/>
              </a:ext>
            </a:extLst>
          </p:cNvPr>
          <p:cNvSpPr>
            <a:spLocks xmlns:a="http://schemas.openxmlformats.org/drawingml/2006/main" noGrp="1"/>
          </p:cNvSpPr>
          <p:nvPr/>
        </p:nvSpPr>
        <p:spPr>
          <a:xfrm xmlns:a="http://schemas.openxmlformats.org/drawingml/2006/main">
            <a:off x="590550" y="22669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1B28203-AD31-494F-8238-A0883B88311D}"/>
              </a:ext>
            </a:extLst>
          </p:cNvPr>
          <p:cNvSpPr>
            <a:spLocks xmlns:a="http://schemas.openxmlformats.org/drawingml/2006/main" noGrp="1"/>
          </p:cNvSpPr>
          <p:nvPr/>
        </p:nvSpPr>
        <p:spPr>
          <a:xfrm xmlns:a="http://schemas.openxmlformats.org/drawingml/2006/main">
            <a:off x="1190625" y="22669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Test with more people</a:t>
            </a:r>
          </a:p>
        </p:txBody>
      </p:sp>
      <p:sp>
        <p:nvSpPr>
          <p:cNvPr id="9" name="">
            <a:extLst xmlns:a="http://schemas.openxmlformats.org/drawingml/2006/main">
              <a:ext uri="{FF2B5EF4-FFF2-40B4-BE49-F238E27FC236}">
                <a16:creationId xmlns:a16="http://schemas.microsoft.com/office/drawing/2014/main" id="{A9D2598E-CBFC-405B-9492-8BD0F2F69A19}"/>
              </a:ext>
            </a:extLst>
          </p:cNvPr>
          <p:cNvSpPr>
            <a:spLocks xmlns:a="http://schemas.openxmlformats.org/drawingml/2006/main" noGrp="1"/>
          </p:cNvSpPr>
          <p:nvPr/>
        </p:nvSpPr>
        <p:spPr>
          <a:xfrm xmlns:a="http://schemas.openxmlformats.org/drawingml/2006/main">
            <a:off x="1190625" y="264795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Check speed, clarity and support for more languages</a:t>
            </a:r>
          </a:p>
        </p:txBody>
      </p:sp>
      <p:sp>
        <p:nvSpPr>
          <p:cNvPr id="10" name="">
            <a:extLst xmlns:a="http://schemas.openxmlformats.org/drawingml/2006/main">
              <a:ext uri="{FF2B5EF4-FFF2-40B4-BE49-F238E27FC236}">
                <a16:creationId xmlns:a16="http://schemas.microsoft.com/office/drawing/2014/main" id="{E8E78334-065D-4B10-8173-B258D71A6C71}"/>
              </a:ext>
            </a:extLst>
          </p:cNvPr>
          <p:cNvSpPr>
            <a:spLocks xmlns:a="http://schemas.openxmlformats.org/drawingml/2006/main" noGrp="1"/>
          </p:cNvSpPr>
          <p:nvPr/>
        </p:nvSpPr>
        <p:spPr>
          <a:xfrm xmlns:a="http://schemas.openxmlformats.org/drawingml/2006/main">
            <a:off x="590550" y="33337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79E8C"/>
                </a:solidFill>
                <a:latin typeface="Arial"/>
                <a:ea typeface="Arial"/>
                <a:cs typeface="Arial"/>
              </a:defRPr>
            </a:defPPr>
            <a:lvl1pPr>
              <a:defRPr sz="2400" b="1">
                <a:solidFill>
                  <a:srgbClr val="079E8C"/>
                </a:solidFill>
                <a:latin typeface="Arial"/>
                <a:ea typeface="Arial"/>
                <a:cs typeface="Arial"/>
              </a:defRPr>
            </a:lvl1pPr>
            <a:lvl2pPr>
              <a:defRPr sz="2400" b="1">
                <a:solidFill>
                  <a:srgbClr val="079E8C"/>
                </a:solidFill>
                <a:latin typeface="Arial"/>
                <a:ea typeface="Arial"/>
                <a:cs typeface="Arial"/>
              </a:defRPr>
            </a:lvl2pPr>
            <a:lvl3pPr>
              <a:defRPr sz="2400" b="1">
                <a:solidFill>
                  <a:srgbClr val="079E8C"/>
                </a:solidFill>
                <a:latin typeface="Arial"/>
                <a:ea typeface="Arial"/>
                <a:cs typeface="Arial"/>
              </a:defRPr>
            </a:lvl3pPr>
            <a:lvl4pPr>
              <a:defRPr sz="2400" b="1">
                <a:solidFill>
                  <a:srgbClr val="079E8C"/>
                </a:solidFill>
                <a:latin typeface="Arial"/>
                <a:ea typeface="Arial"/>
                <a:cs typeface="Arial"/>
              </a:defRPr>
            </a:lvl4pPr>
            <a:lvl5pPr>
              <a:defRPr sz="2400" b="1">
                <a:solidFill>
                  <a:srgbClr val="079E8C"/>
                </a:solidFill>
                <a:latin typeface="Arial"/>
                <a:ea typeface="Arial"/>
                <a:cs typeface="Arial"/>
              </a:defRPr>
            </a:lvl5pPr>
            <a:lvl6pPr>
              <a:defRPr sz="2400" b="1">
                <a:solidFill>
                  <a:srgbClr val="079E8C"/>
                </a:solidFill>
                <a:latin typeface="Arial"/>
                <a:ea typeface="Arial"/>
                <a:cs typeface="Arial"/>
              </a:defRPr>
            </a:lvl6pPr>
            <a:lvl7pPr>
              <a:defRPr sz="2400" b="1">
                <a:solidFill>
                  <a:srgbClr val="079E8C"/>
                </a:solidFill>
                <a:latin typeface="Arial"/>
                <a:ea typeface="Arial"/>
                <a:cs typeface="Arial"/>
              </a:defRPr>
            </a:lvl7pPr>
            <a:lvl8pPr>
              <a:defRPr sz="2400" b="1">
                <a:solidFill>
                  <a:srgbClr val="079E8C"/>
                </a:solidFill>
                <a:latin typeface="Arial"/>
                <a:ea typeface="Arial"/>
                <a:cs typeface="Arial"/>
              </a:defRPr>
            </a:lvl8pPr>
            <a:lvl9pPr>
              <a:defRPr sz="2400" b="1">
                <a:solidFill>
                  <a:srgbClr val="079E8C"/>
                </a:solidFill>
                <a:latin typeface="Arial"/>
                <a:ea typeface="Arial"/>
                <a:cs typeface="Arial"/>
              </a:defRPr>
            </a:lvl9pPr>
          </a:lstStyle>
          <a:p xmlns:a="http://schemas.openxmlformats.org/drawingml/2006/main">
            <a:pPr>
              <a:defRPr sz="2400" b="1">
                <a:solidFill>
                  <a:srgbClr val="079E8C"/>
                </a:solidFill>
                <a:latin typeface="Arial"/>
                <a:ea typeface="Arial"/>
                <a:cs typeface="Arial"/>
              </a:defRPr>
            </a:pPr>
            <a:r>
              <a:rPr sz="2400" b="1">
                <a:solidFill>
                  <a:srgbClr val="079E8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1E82B7A-2B88-469A-AEFB-39757290B52B}"/>
              </a:ext>
            </a:extLst>
          </p:cNvPr>
          <p:cNvSpPr>
            <a:spLocks xmlns:a="http://schemas.openxmlformats.org/drawingml/2006/main" noGrp="1"/>
          </p:cNvSpPr>
          <p:nvPr/>
        </p:nvSpPr>
        <p:spPr>
          <a:xfrm xmlns:a="http://schemas.openxmlformats.org/drawingml/2006/main">
            <a:off x="1190625" y="33337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3A45"/>
                </a:solidFill>
                <a:latin typeface="Arial"/>
                <a:ea typeface="Arial"/>
                <a:cs typeface="Arial"/>
              </a:defRPr>
            </a:defPPr>
            <a:lvl1pPr>
              <a:defRPr sz="2025" b="1">
                <a:solidFill>
                  <a:srgbClr val="243A45"/>
                </a:solidFill>
                <a:latin typeface="Arial"/>
                <a:ea typeface="Arial"/>
                <a:cs typeface="Arial"/>
              </a:defRPr>
            </a:lvl1pPr>
            <a:lvl2pPr>
              <a:defRPr sz="2025" b="1">
                <a:solidFill>
                  <a:srgbClr val="243A45"/>
                </a:solidFill>
                <a:latin typeface="Arial"/>
                <a:ea typeface="Arial"/>
                <a:cs typeface="Arial"/>
              </a:defRPr>
            </a:lvl2pPr>
            <a:lvl3pPr>
              <a:defRPr sz="2025" b="1">
                <a:solidFill>
                  <a:srgbClr val="243A45"/>
                </a:solidFill>
                <a:latin typeface="Arial"/>
                <a:ea typeface="Arial"/>
                <a:cs typeface="Arial"/>
              </a:defRPr>
            </a:lvl3pPr>
            <a:lvl4pPr>
              <a:defRPr sz="2025" b="1">
                <a:solidFill>
                  <a:srgbClr val="243A45"/>
                </a:solidFill>
                <a:latin typeface="Arial"/>
                <a:ea typeface="Arial"/>
                <a:cs typeface="Arial"/>
              </a:defRPr>
            </a:lvl4pPr>
            <a:lvl5pPr>
              <a:defRPr sz="2025" b="1">
                <a:solidFill>
                  <a:srgbClr val="243A45"/>
                </a:solidFill>
                <a:latin typeface="Arial"/>
                <a:ea typeface="Arial"/>
                <a:cs typeface="Arial"/>
              </a:defRPr>
            </a:lvl5pPr>
            <a:lvl6pPr>
              <a:defRPr sz="2025" b="1">
                <a:solidFill>
                  <a:srgbClr val="243A45"/>
                </a:solidFill>
                <a:latin typeface="Arial"/>
                <a:ea typeface="Arial"/>
                <a:cs typeface="Arial"/>
              </a:defRPr>
            </a:lvl6pPr>
            <a:lvl7pPr>
              <a:defRPr sz="2025" b="1">
                <a:solidFill>
                  <a:srgbClr val="243A45"/>
                </a:solidFill>
                <a:latin typeface="Arial"/>
                <a:ea typeface="Arial"/>
                <a:cs typeface="Arial"/>
              </a:defRPr>
            </a:lvl7pPr>
            <a:lvl8pPr>
              <a:defRPr sz="2025" b="1">
                <a:solidFill>
                  <a:srgbClr val="243A45"/>
                </a:solidFill>
                <a:latin typeface="Arial"/>
                <a:ea typeface="Arial"/>
                <a:cs typeface="Arial"/>
              </a:defRPr>
            </a:lvl8pPr>
            <a:lvl9pPr>
              <a:defRPr sz="2025" b="1">
                <a:solidFill>
                  <a:srgbClr val="243A45"/>
                </a:solidFill>
                <a:latin typeface="Arial"/>
                <a:ea typeface="Arial"/>
                <a:cs typeface="Arial"/>
              </a:defRPr>
            </a:lvl9pPr>
          </a:lstStyle>
          <a:p xmlns:a="http://schemas.openxmlformats.org/drawingml/2006/main">
            <a:pPr>
              <a:defRPr sz="2025" b="1">
                <a:solidFill>
                  <a:srgbClr val="243A45"/>
                </a:solidFill>
                <a:latin typeface="Arial"/>
                <a:ea typeface="Arial"/>
                <a:cs typeface="Arial"/>
              </a:defRPr>
            </a:pPr>
            <a:r>
              <a:rPr sz="2025" b="1">
                <a:solidFill>
                  <a:srgbClr val="243A45"/>
                </a:solidFill>
                <a:latin typeface="Arial"/>
                <a:ea typeface="Arial"/>
                <a:cs typeface="Arial"/>
              </a:rPr>
              <a:t>Prepare for wider use</a:t>
            </a:r>
          </a:p>
        </p:txBody>
      </p:sp>
      <p:sp>
        <p:nvSpPr>
          <p:cNvPr id="12" name="">
            <a:extLst xmlns:a="http://schemas.openxmlformats.org/drawingml/2006/main">
              <a:ext uri="{FF2B5EF4-FFF2-40B4-BE49-F238E27FC236}">
                <a16:creationId xmlns:a16="http://schemas.microsoft.com/office/drawing/2014/main" id="{472E9A02-2DB9-4172-887A-417528274A68}"/>
              </a:ext>
            </a:extLst>
          </p:cNvPr>
          <p:cNvSpPr>
            <a:spLocks xmlns:a="http://schemas.openxmlformats.org/drawingml/2006/main" noGrp="1"/>
          </p:cNvSpPr>
          <p:nvPr/>
        </p:nvSpPr>
        <p:spPr>
          <a:xfrm xmlns:a="http://schemas.openxmlformats.org/drawingml/2006/main">
            <a:off x="1190625" y="3714750"/>
            <a:ext cx="709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772"/>
                </a:solidFill>
                <a:latin typeface="Arial"/>
                <a:ea typeface="Arial"/>
                <a:cs typeface="Arial"/>
              </a:defRPr>
            </a:defPPr>
            <a:lvl1pPr>
              <a:defRPr sz="1725" b="0">
                <a:solidFill>
                  <a:srgbClr val="586772"/>
                </a:solidFill>
                <a:latin typeface="Arial"/>
                <a:ea typeface="Arial"/>
                <a:cs typeface="Arial"/>
              </a:defRPr>
            </a:lvl1pPr>
            <a:lvl2pPr>
              <a:defRPr sz="1725" b="0">
                <a:solidFill>
                  <a:srgbClr val="586772"/>
                </a:solidFill>
                <a:latin typeface="Arial"/>
                <a:ea typeface="Arial"/>
                <a:cs typeface="Arial"/>
              </a:defRPr>
            </a:lvl2pPr>
            <a:lvl3pPr>
              <a:defRPr sz="1725" b="0">
                <a:solidFill>
                  <a:srgbClr val="586772"/>
                </a:solidFill>
                <a:latin typeface="Arial"/>
                <a:ea typeface="Arial"/>
                <a:cs typeface="Arial"/>
              </a:defRPr>
            </a:lvl3pPr>
            <a:lvl4pPr>
              <a:defRPr sz="1725" b="0">
                <a:solidFill>
                  <a:srgbClr val="586772"/>
                </a:solidFill>
                <a:latin typeface="Arial"/>
                <a:ea typeface="Arial"/>
                <a:cs typeface="Arial"/>
              </a:defRPr>
            </a:lvl4pPr>
            <a:lvl5pPr>
              <a:defRPr sz="1725" b="0">
                <a:solidFill>
                  <a:srgbClr val="586772"/>
                </a:solidFill>
                <a:latin typeface="Arial"/>
                <a:ea typeface="Arial"/>
                <a:cs typeface="Arial"/>
              </a:defRPr>
            </a:lvl5pPr>
            <a:lvl6pPr>
              <a:defRPr sz="1725" b="0">
                <a:solidFill>
                  <a:srgbClr val="586772"/>
                </a:solidFill>
                <a:latin typeface="Arial"/>
                <a:ea typeface="Arial"/>
                <a:cs typeface="Arial"/>
              </a:defRPr>
            </a:lvl6pPr>
            <a:lvl7pPr>
              <a:defRPr sz="1725" b="0">
                <a:solidFill>
                  <a:srgbClr val="586772"/>
                </a:solidFill>
                <a:latin typeface="Arial"/>
                <a:ea typeface="Arial"/>
                <a:cs typeface="Arial"/>
              </a:defRPr>
            </a:lvl7pPr>
            <a:lvl8pPr>
              <a:defRPr sz="1725" b="0">
                <a:solidFill>
                  <a:srgbClr val="586772"/>
                </a:solidFill>
                <a:latin typeface="Arial"/>
                <a:ea typeface="Arial"/>
                <a:cs typeface="Arial"/>
              </a:defRPr>
            </a:lvl8pPr>
            <a:lvl9pPr>
              <a:defRPr sz="1725" b="0">
                <a:solidFill>
                  <a:srgbClr val="586772"/>
                </a:solidFill>
                <a:latin typeface="Arial"/>
                <a:ea typeface="Arial"/>
                <a:cs typeface="Arial"/>
              </a:defRPr>
            </a:lvl9pPr>
          </a:lstStyle>
          <a:p xmlns:a="http://schemas.openxmlformats.org/drawingml/2006/main">
            <a:pPr>
              <a:defRPr sz="1725" b="0">
                <a:solidFill>
                  <a:srgbClr val="586772"/>
                </a:solidFill>
                <a:latin typeface="Arial"/>
                <a:ea typeface="Arial"/>
                <a:cs typeface="Arial"/>
              </a:defRPr>
            </a:pPr>
            <a:r>
              <a:rPr sz="1725" b="0">
                <a:solidFill>
                  <a:srgbClr val="586772"/>
                </a:solidFill>
                <a:latin typeface="Arial"/>
                <a:ea typeface="Arial"/>
                <a:cs typeface="Arial"/>
              </a:rPr>
              <a:t>Improve explanations and complete hosting and capacity tests</a:t>
            </a:r>
          </a:p>
        </p:txBody>
      </p:sp>
    </p:spTree>
    <p:extLst>
      <p:ext uri="{BB962C8B-B14F-4D97-AF65-F5344CB8AC3E}">
        <p14:creationId xmlns:p14="http://schemas.microsoft.com/office/powerpoint/2010/main" val="10570788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F93073B-932B-4DE2-8AD3-6EBD25CC18D3}"/>
              </a:ext>
            </a:extLst>
          </p:cNvPr>
          <p:cNvPicPr>
            <a:picLocks xmlns:a="http://schemas.openxmlformats.org/drawingml/2006/main" noChangeAspect="1"/>
          </p:cNvPicPr>
          <p:nvPr/>
        </p:nvPicPr>
        <p:blipFill>
          <a:blip xmlns:r="http://schemas.openxmlformats.org/officeDocument/2006/relationships" xmlns:a="http://schemas.openxmlformats.org/drawingml/2006/main" r:embed="R395c6dcbc4ce4c8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944F6A-22CE-4714-A3A1-4129921B8AA9}"/>
              </a:ext>
            </a:extLst>
          </p:cNvPr>
          <p:cNvSpPr>
            <a:spLocks xmlns:a="http://schemas.openxmlformats.org/drawingml/2006/main" noGrp="1"/>
          </p:cNvSpPr>
          <p:nvPr/>
        </p:nvSpPr>
        <p:spPr>
          <a:xfrm xmlns:a="http://schemas.openxmlformats.org/drawingml/2006/main">
            <a:off x="628650" y="1076325"/>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079E8C"/>
                </a:solidFill>
                <a:latin typeface="Arial"/>
                <a:ea typeface="Arial"/>
                <a:cs typeface="Arial"/>
              </a:defRPr>
            </a:defPPr>
            <a:lvl1pPr>
              <a:defRPr sz="6600" b="1">
                <a:solidFill>
                  <a:srgbClr val="079E8C"/>
                </a:solidFill>
                <a:latin typeface="Arial"/>
                <a:ea typeface="Arial"/>
                <a:cs typeface="Arial"/>
              </a:defRPr>
            </a:lvl1pPr>
            <a:lvl2pPr>
              <a:defRPr sz="6600" b="1">
                <a:solidFill>
                  <a:srgbClr val="079E8C"/>
                </a:solidFill>
                <a:latin typeface="Arial"/>
                <a:ea typeface="Arial"/>
                <a:cs typeface="Arial"/>
              </a:defRPr>
            </a:lvl2pPr>
            <a:lvl3pPr>
              <a:defRPr sz="6600" b="1">
                <a:solidFill>
                  <a:srgbClr val="079E8C"/>
                </a:solidFill>
                <a:latin typeface="Arial"/>
                <a:ea typeface="Arial"/>
                <a:cs typeface="Arial"/>
              </a:defRPr>
            </a:lvl3pPr>
            <a:lvl4pPr>
              <a:defRPr sz="6600" b="1">
                <a:solidFill>
                  <a:srgbClr val="079E8C"/>
                </a:solidFill>
                <a:latin typeface="Arial"/>
                <a:ea typeface="Arial"/>
                <a:cs typeface="Arial"/>
              </a:defRPr>
            </a:lvl4pPr>
            <a:lvl5pPr>
              <a:defRPr sz="6600" b="1">
                <a:solidFill>
                  <a:srgbClr val="079E8C"/>
                </a:solidFill>
                <a:latin typeface="Arial"/>
                <a:ea typeface="Arial"/>
                <a:cs typeface="Arial"/>
              </a:defRPr>
            </a:lvl5pPr>
            <a:lvl6pPr>
              <a:defRPr sz="6600" b="1">
                <a:solidFill>
                  <a:srgbClr val="079E8C"/>
                </a:solidFill>
                <a:latin typeface="Arial"/>
                <a:ea typeface="Arial"/>
                <a:cs typeface="Arial"/>
              </a:defRPr>
            </a:lvl6pPr>
            <a:lvl7pPr>
              <a:defRPr sz="6600" b="1">
                <a:solidFill>
                  <a:srgbClr val="079E8C"/>
                </a:solidFill>
                <a:latin typeface="Arial"/>
                <a:ea typeface="Arial"/>
                <a:cs typeface="Arial"/>
              </a:defRPr>
            </a:lvl7pPr>
            <a:lvl8pPr>
              <a:defRPr sz="6600" b="1">
                <a:solidFill>
                  <a:srgbClr val="079E8C"/>
                </a:solidFill>
                <a:latin typeface="Arial"/>
                <a:ea typeface="Arial"/>
                <a:cs typeface="Arial"/>
              </a:defRPr>
            </a:lvl8pPr>
            <a:lvl9pPr>
              <a:defRPr sz="6600" b="1">
                <a:solidFill>
                  <a:srgbClr val="079E8C"/>
                </a:solidFill>
                <a:latin typeface="Arial"/>
                <a:ea typeface="Arial"/>
                <a:cs typeface="Arial"/>
              </a:defRPr>
            </a:lvl9pPr>
          </a:lstStyle>
          <a:p xmlns:a="http://schemas.openxmlformats.org/drawingml/2006/main">
            <a:pPr>
              <a:defRPr sz="6600" b="1">
                <a:solidFill>
                  <a:srgbClr val="079E8C"/>
                </a:solidFill>
                <a:latin typeface="Arial"/>
                <a:ea typeface="Arial"/>
                <a:cs typeface="Arial"/>
              </a:defRPr>
            </a:pPr>
            <a:r>
              <a:rPr sz="6600" b="1">
                <a:solidFill>
                  <a:srgbClr val="079E8C"/>
                </a:solidFill>
                <a:latin typeface="Arial"/>
                <a:ea typeface="Arial"/>
                <a:cs typeface="Arial"/>
              </a:rPr>
              <a:t>MASO</a:t>
            </a:r>
          </a:p>
        </p:txBody>
      </p:sp>
      <p:sp>
        <p:nvSpPr>
          <p:cNvPr id="3" name="">
            <a:extLst xmlns:a="http://schemas.openxmlformats.org/drawingml/2006/main">
              <a:ext uri="{FF2B5EF4-FFF2-40B4-BE49-F238E27FC236}">
                <a16:creationId xmlns:a16="http://schemas.microsoft.com/office/drawing/2014/main" id="{34905A79-78F5-4D17-A413-C800B3DA8B13}"/>
              </a:ext>
            </a:extLst>
          </p:cNvPr>
          <p:cNvSpPr>
            <a:spLocks xmlns:a="http://schemas.openxmlformats.org/drawingml/2006/main" noGrp="1"/>
          </p:cNvSpPr>
          <p:nvPr/>
        </p:nvSpPr>
        <p:spPr>
          <a:xfrm xmlns:a="http://schemas.openxmlformats.org/drawingml/2006/main">
            <a:off x="666750" y="238125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43A45"/>
                </a:solidFill>
                <a:latin typeface="Arial"/>
                <a:ea typeface="Arial"/>
                <a:cs typeface="Arial"/>
              </a:defRPr>
            </a:defPPr>
            <a:lvl1pPr>
              <a:defRPr sz="2400" b="1">
                <a:solidFill>
                  <a:srgbClr val="243A45"/>
                </a:solidFill>
                <a:latin typeface="Arial"/>
                <a:ea typeface="Arial"/>
                <a:cs typeface="Arial"/>
              </a:defRPr>
            </a:lvl1pPr>
            <a:lvl2pPr>
              <a:defRPr sz="2400" b="1">
                <a:solidFill>
                  <a:srgbClr val="243A45"/>
                </a:solidFill>
                <a:latin typeface="Arial"/>
                <a:ea typeface="Arial"/>
                <a:cs typeface="Arial"/>
              </a:defRPr>
            </a:lvl2pPr>
            <a:lvl3pPr>
              <a:defRPr sz="2400" b="1">
                <a:solidFill>
                  <a:srgbClr val="243A45"/>
                </a:solidFill>
                <a:latin typeface="Arial"/>
                <a:ea typeface="Arial"/>
                <a:cs typeface="Arial"/>
              </a:defRPr>
            </a:lvl3pPr>
            <a:lvl4pPr>
              <a:defRPr sz="2400" b="1">
                <a:solidFill>
                  <a:srgbClr val="243A45"/>
                </a:solidFill>
                <a:latin typeface="Arial"/>
                <a:ea typeface="Arial"/>
                <a:cs typeface="Arial"/>
              </a:defRPr>
            </a:lvl4pPr>
            <a:lvl5pPr>
              <a:defRPr sz="2400" b="1">
                <a:solidFill>
                  <a:srgbClr val="243A45"/>
                </a:solidFill>
                <a:latin typeface="Arial"/>
                <a:ea typeface="Arial"/>
                <a:cs typeface="Arial"/>
              </a:defRPr>
            </a:lvl5pPr>
            <a:lvl6pPr>
              <a:defRPr sz="2400" b="1">
                <a:solidFill>
                  <a:srgbClr val="243A45"/>
                </a:solidFill>
                <a:latin typeface="Arial"/>
                <a:ea typeface="Arial"/>
                <a:cs typeface="Arial"/>
              </a:defRPr>
            </a:lvl6pPr>
            <a:lvl7pPr>
              <a:defRPr sz="2400" b="1">
                <a:solidFill>
                  <a:srgbClr val="243A45"/>
                </a:solidFill>
                <a:latin typeface="Arial"/>
                <a:ea typeface="Arial"/>
                <a:cs typeface="Arial"/>
              </a:defRPr>
            </a:lvl7pPr>
            <a:lvl8pPr>
              <a:defRPr sz="2400" b="1">
                <a:solidFill>
                  <a:srgbClr val="243A45"/>
                </a:solidFill>
                <a:latin typeface="Arial"/>
                <a:ea typeface="Arial"/>
                <a:cs typeface="Arial"/>
              </a:defRPr>
            </a:lvl8pPr>
            <a:lvl9pPr>
              <a:defRPr sz="2400" b="1">
                <a:solidFill>
                  <a:srgbClr val="243A45"/>
                </a:solidFill>
                <a:latin typeface="Arial"/>
                <a:ea typeface="Arial"/>
                <a:cs typeface="Arial"/>
              </a:defRPr>
            </a:lvl9pPr>
          </a:lstStyle>
          <a:p xmlns:a="http://schemas.openxmlformats.org/drawingml/2006/main">
            <a:pPr>
              <a:defRPr sz="2400" b="1">
                <a:solidFill>
                  <a:srgbClr val="243A45"/>
                </a:solidFill>
                <a:latin typeface="Arial"/>
                <a:ea typeface="Arial"/>
                <a:cs typeface="Arial"/>
              </a:defRPr>
            </a:pPr>
            <a:r>
              <a:rPr sz="2400" b="1">
                <a:solidFill>
                  <a:srgbClr val="243A45"/>
                </a:solidFill>
                <a:latin typeface="Arial"/>
                <a:ea typeface="Arial"/>
                <a:cs typeface="Arial"/>
              </a:rPr>
              <a:t>Your AI link safety buddy</a:t>
            </a:r>
          </a:p>
        </p:txBody>
      </p:sp>
      <p:sp>
        <p:nvSpPr>
          <p:cNvPr id="4" name="">
            <a:extLst xmlns:a="http://schemas.openxmlformats.org/drawingml/2006/main">
              <a:ext uri="{FF2B5EF4-FFF2-40B4-BE49-F238E27FC236}">
                <a16:creationId xmlns:a16="http://schemas.microsoft.com/office/drawing/2014/main" id="{EA9E304C-0380-4CAA-B03E-CD8C5A315A94}"/>
              </a:ext>
            </a:extLst>
          </p:cNvPr>
          <p:cNvSpPr>
            <a:spLocks xmlns:a="http://schemas.openxmlformats.org/drawingml/2006/main" noGrp="1"/>
          </p:cNvSpPr>
          <p:nvPr/>
        </p:nvSpPr>
        <p:spPr>
          <a:xfrm xmlns:a="http://schemas.openxmlformats.org/drawingml/2006/main">
            <a:off x="666750" y="32194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243A45"/>
                </a:solidFill>
                <a:latin typeface="Arial"/>
                <a:ea typeface="Arial"/>
                <a:cs typeface="Arial"/>
              </a:defRPr>
            </a:defPPr>
            <a:lvl1pPr>
              <a:defRPr sz="2550" b="0">
                <a:solidFill>
                  <a:srgbClr val="243A45"/>
                </a:solidFill>
                <a:latin typeface="Arial"/>
                <a:ea typeface="Arial"/>
                <a:cs typeface="Arial"/>
              </a:defRPr>
            </a:lvl1pPr>
            <a:lvl2pPr>
              <a:defRPr sz="2550" b="0">
                <a:solidFill>
                  <a:srgbClr val="243A45"/>
                </a:solidFill>
                <a:latin typeface="Arial"/>
                <a:ea typeface="Arial"/>
                <a:cs typeface="Arial"/>
              </a:defRPr>
            </a:lvl2pPr>
            <a:lvl3pPr>
              <a:defRPr sz="2550" b="0">
                <a:solidFill>
                  <a:srgbClr val="243A45"/>
                </a:solidFill>
                <a:latin typeface="Arial"/>
                <a:ea typeface="Arial"/>
                <a:cs typeface="Arial"/>
              </a:defRPr>
            </a:lvl3pPr>
            <a:lvl4pPr>
              <a:defRPr sz="2550" b="0">
                <a:solidFill>
                  <a:srgbClr val="243A45"/>
                </a:solidFill>
                <a:latin typeface="Arial"/>
                <a:ea typeface="Arial"/>
                <a:cs typeface="Arial"/>
              </a:defRPr>
            </a:lvl4pPr>
            <a:lvl5pPr>
              <a:defRPr sz="2550" b="0">
                <a:solidFill>
                  <a:srgbClr val="243A45"/>
                </a:solidFill>
                <a:latin typeface="Arial"/>
                <a:ea typeface="Arial"/>
                <a:cs typeface="Arial"/>
              </a:defRPr>
            </a:lvl5pPr>
            <a:lvl6pPr>
              <a:defRPr sz="2550" b="0">
                <a:solidFill>
                  <a:srgbClr val="243A45"/>
                </a:solidFill>
                <a:latin typeface="Arial"/>
                <a:ea typeface="Arial"/>
                <a:cs typeface="Arial"/>
              </a:defRPr>
            </a:lvl6pPr>
            <a:lvl7pPr>
              <a:defRPr sz="2550" b="0">
                <a:solidFill>
                  <a:srgbClr val="243A45"/>
                </a:solidFill>
                <a:latin typeface="Arial"/>
                <a:ea typeface="Arial"/>
                <a:cs typeface="Arial"/>
              </a:defRPr>
            </a:lvl7pPr>
            <a:lvl8pPr>
              <a:defRPr sz="2550" b="0">
                <a:solidFill>
                  <a:srgbClr val="243A45"/>
                </a:solidFill>
                <a:latin typeface="Arial"/>
                <a:ea typeface="Arial"/>
                <a:cs typeface="Arial"/>
              </a:defRPr>
            </a:lvl8pPr>
            <a:lvl9pPr>
              <a:defRPr sz="2550" b="0">
                <a:solidFill>
                  <a:srgbClr val="243A45"/>
                </a:solidFill>
                <a:latin typeface="Arial"/>
                <a:ea typeface="Arial"/>
                <a:cs typeface="Arial"/>
              </a:defRPr>
            </a:lvl9pPr>
          </a:lstStyle>
          <a:p xmlns:a="http://schemas.openxmlformats.org/drawingml/2006/main">
            <a:pPr>
              <a:defRPr sz="2550" b="0">
                <a:solidFill>
                  <a:srgbClr val="243A45"/>
                </a:solidFill>
                <a:latin typeface="Arial"/>
                <a:ea typeface="Arial"/>
                <a:cs typeface="Arial"/>
              </a:defRPr>
            </a:pPr>
            <a:r>
              <a:rPr sz="2550" b="0">
                <a:solidFill>
                  <a:srgbClr val="243A45"/>
                </a:solidFill>
                <a:latin typeface="Arial"/>
                <a:ea typeface="Arial"/>
                <a:cs typeface="Arial"/>
              </a:rPr>
              <a:t>A moment to check.</a:t>
            </a:r>
          </a:p>
          <a:p xmlns:a="http://schemas.openxmlformats.org/drawingml/2006/main">
            <a:pPr>
              <a:defRPr sz="2550" b="0">
                <a:solidFill>
                  <a:srgbClr val="243A45"/>
                </a:solidFill>
                <a:latin typeface="Arial"/>
                <a:ea typeface="Arial"/>
                <a:cs typeface="Arial"/>
              </a:defRPr>
            </a:pPr>
            <a:r>
              <a:rPr sz="2550" b="0">
                <a:solidFill>
                  <a:srgbClr val="243A45"/>
                </a:solidFill>
                <a:latin typeface="Arial"/>
                <a:ea typeface="Arial"/>
                <a:cs typeface="Arial"/>
              </a:rPr>
              <a:t>A better next step.</a:t>
            </a:r>
          </a:p>
        </p:txBody>
      </p:sp>
      <p:sp>
        <p:nvSpPr>
          <p:cNvPr id="5" name="">
            <a:extLst xmlns:a="http://schemas.openxmlformats.org/drawingml/2006/main">
              <a:ext uri="{FF2B5EF4-FFF2-40B4-BE49-F238E27FC236}">
                <a16:creationId xmlns:a16="http://schemas.microsoft.com/office/drawing/2014/main" id="{96897787-959C-4972-9405-A6216FF3090F}"/>
              </a:ext>
            </a:extLst>
          </p:cNvPr>
          <p:cNvSpPr>
            <a:spLocks xmlns:a="http://schemas.openxmlformats.org/drawingml/2006/main" noGrp="1"/>
          </p:cNvSpPr>
          <p:nvPr/>
        </p:nvSpPr>
        <p:spPr>
          <a:xfrm xmlns:a="http://schemas.openxmlformats.org/drawingml/2006/main">
            <a:off x="666750" y="441007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79E8C"/>
                </a:solidFill>
                <a:latin typeface="Arial"/>
                <a:ea typeface="Arial"/>
                <a:cs typeface="Arial"/>
              </a:defRPr>
            </a:defPPr>
            <a:lvl1pPr>
              <a:defRPr sz="1875" b="1">
                <a:solidFill>
                  <a:srgbClr val="079E8C"/>
                </a:solidFill>
                <a:latin typeface="Arial"/>
                <a:ea typeface="Arial"/>
                <a:cs typeface="Arial"/>
              </a:defRPr>
            </a:lvl1pPr>
            <a:lvl2pPr>
              <a:defRPr sz="1875" b="1">
                <a:solidFill>
                  <a:srgbClr val="079E8C"/>
                </a:solidFill>
                <a:latin typeface="Arial"/>
                <a:ea typeface="Arial"/>
                <a:cs typeface="Arial"/>
              </a:defRPr>
            </a:lvl2pPr>
            <a:lvl3pPr>
              <a:defRPr sz="1875" b="1">
                <a:solidFill>
                  <a:srgbClr val="079E8C"/>
                </a:solidFill>
                <a:latin typeface="Arial"/>
                <a:ea typeface="Arial"/>
                <a:cs typeface="Arial"/>
              </a:defRPr>
            </a:lvl3pPr>
            <a:lvl4pPr>
              <a:defRPr sz="1875" b="1">
                <a:solidFill>
                  <a:srgbClr val="079E8C"/>
                </a:solidFill>
                <a:latin typeface="Arial"/>
                <a:ea typeface="Arial"/>
                <a:cs typeface="Arial"/>
              </a:defRPr>
            </a:lvl4pPr>
            <a:lvl5pPr>
              <a:defRPr sz="1875" b="1">
                <a:solidFill>
                  <a:srgbClr val="079E8C"/>
                </a:solidFill>
                <a:latin typeface="Arial"/>
                <a:ea typeface="Arial"/>
                <a:cs typeface="Arial"/>
              </a:defRPr>
            </a:lvl5pPr>
            <a:lvl6pPr>
              <a:defRPr sz="1875" b="1">
                <a:solidFill>
                  <a:srgbClr val="079E8C"/>
                </a:solidFill>
                <a:latin typeface="Arial"/>
                <a:ea typeface="Arial"/>
                <a:cs typeface="Arial"/>
              </a:defRPr>
            </a:lvl6pPr>
            <a:lvl7pPr>
              <a:defRPr sz="1875" b="1">
                <a:solidFill>
                  <a:srgbClr val="079E8C"/>
                </a:solidFill>
                <a:latin typeface="Arial"/>
                <a:ea typeface="Arial"/>
                <a:cs typeface="Arial"/>
              </a:defRPr>
            </a:lvl7pPr>
            <a:lvl8pPr>
              <a:defRPr sz="1875" b="1">
                <a:solidFill>
                  <a:srgbClr val="079E8C"/>
                </a:solidFill>
                <a:latin typeface="Arial"/>
                <a:ea typeface="Arial"/>
                <a:cs typeface="Arial"/>
              </a:defRPr>
            </a:lvl8pPr>
            <a:lvl9pPr>
              <a:defRPr sz="1875" b="1">
                <a:solidFill>
                  <a:srgbClr val="079E8C"/>
                </a:solidFill>
                <a:latin typeface="Arial"/>
                <a:ea typeface="Arial"/>
                <a:cs typeface="Arial"/>
              </a:defRPr>
            </a:lvl9pPr>
          </a:lstStyle>
          <a:p xmlns:a="http://schemas.openxmlformats.org/drawingml/2006/main">
            <a:pPr>
              <a:defRPr sz="1875" b="1">
                <a:solidFill>
                  <a:srgbClr val="079E8C"/>
                </a:solidFill>
                <a:latin typeface="Arial"/>
                <a:ea typeface="Arial"/>
                <a:cs typeface="Arial"/>
              </a:defRPr>
            </a:pPr>
            <a:r>
              <a:rPr sz="1875" b="1">
                <a:solidFill>
                  <a:srgbClr val="079E8C"/>
                </a:solidFill>
                <a:latin typeface="Arial"/>
                <a:ea typeface="Arial"/>
                <a:cs typeface="Arial"/>
              </a:rPr>
              <a:t>Thank you</a:t>
            </a:r>
          </a:p>
        </p:txBody>
      </p:sp>
    </p:spTree>
    <p:extLst>
      <p:ext uri="{BB962C8B-B14F-4D97-AF65-F5344CB8AC3E}">
        <p14:creationId xmlns:p14="http://schemas.microsoft.com/office/powerpoint/2010/main" val="1053347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2026-10-19T15:43:55.3800000Z</dcterms:created>
  <dcterms:modified xsi:type="dcterms:W3CDTF">2026-10-19T15:43:55.3800000Z</dcterms:modified>
</coreProperties>
</file>